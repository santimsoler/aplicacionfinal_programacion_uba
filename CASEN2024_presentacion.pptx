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N° de variables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Módulos del cuestionario</c:v>
                  </c:pt>
                  <c:pt idx="1">
                    <c:v>Ingresos (Cepal)</c:v>
                  </c:pt>
                  <c:pt idx="2">
                    <c:v>Pobreza multidimensional</c:v>
                  </c:pt>
                  <c:pt idx="3">
                    <c:v>Adicionales (MDSF)</c:v>
                  </c:pt>
                  <c:pt idx="4">
                    <c:v>Identificación</c:v>
                  </c:pt>
                  <c:pt idx="5">
                    <c:v>Ingresos (MDSF)</c:v>
                  </c:pt>
                  <c:pt idx="6">
                    <c:v>Factores de expansión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551</c:v>
                </c:pt>
                <c:pt idx="1">
                  <c:v>209</c:v>
                </c:pt>
                <c:pt idx="2">
                  <c:v>41</c:v>
                </c:pt>
                <c:pt idx="3">
                  <c:v>39</c:v>
                </c:pt>
                <c:pt idx="4">
                  <c:v>18</c:v>
                </c:pt>
                <c:pt idx="5">
                  <c:v>15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B24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Arial"/>
              </a:rPr>
              <a:t>Tasa de carencia por indicador seleccionado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hogares carentes</c:v>
                </c:pt>
              </c:strCache>
            </c:strRef>
          </c:tx>
          <c:spPr>
            <a:solidFill>
              <a:srgbClr val="6FD3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Seguridad</c:v>
                  </c:pt>
                  <c:pt idx="1">
                    <c:v>Escolaridad</c:v>
                  </c:pt>
                  <c:pt idx="2">
                    <c:v>Déficit vivienda (cualit.)</c:v>
                  </c:pt>
                  <c:pt idx="3">
                    <c:v>Conectividad digital</c:v>
                  </c:pt>
                  <c:pt idx="4">
                    <c:v>Contaminación entorno</c:v>
                  </c:pt>
                  <c:pt idx="5">
                    <c:v>Atención en salud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</c:v>
                </c:pt>
                <c:pt idx="1">
                  <c:v>20.5</c:v>
                </c:pt>
                <c:pt idx="2">
                  <c:v>19.5</c:v>
                </c:pt>
                <c:pt idx="3">
                  <c:v>16.6</c:v>
                </c:pt>
                <c:pt idx="4">
                  <c:v>8.7</c:v>
                </c:pt>
                <c:pt idx="5">
                  <c:v>6.8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CADCF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1295C"/>
        </a:solidFill>
        <a:ln>
          <a:noFill/>
        </a:ln>
        <a:effectLst/>
      </c:spPr>
    </c:plotArea>
    <c:plotVisOnly val="1"/>
    <c:dispBlanksAs val="span"/>
  </c:chart>
  <c:spPr>
    <a:solidFill>
      <a:srgbClr val="21295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1C7293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834640" cy="283464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PROGRAMACIÓN  ·  UBA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Predicción y Determinantes de la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Pobreza Multidimensional y Vulnerabilidad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¿Cuáles son los principales predictores no monetarios —salud, educación y entorno residencial— que explican el riesgo de caer en pobreza multidimensional?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4754880"/>
            <a:ext cx="1920240" cy="0"/>
          </a:xfrm>
          <a:prstGeom prst="line">
            <a:avLst/>
          </a:prstGeom>
          <a:noFill/>
          <a:ln w="19050">
            <a:solidFill>
              <a:srgbClr val="3E6E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instancia de exposiciones  ·  Presentación de base de datos y plan de análisis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172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Encuesta CASEN 2024 — Ministerio de Desarrollo Social y Familia, Chile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2  ·  Andrea Chasi, Pablo Ortiz, Santiago Soler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Motivación y pregunta de investigación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64240" cy="1417320"/>
          </a:xfrm>
          <a:prstGeom prst="roundRect">
            <a:avLst>
              <a:gd name="adj" fmla="val 4516"/>
            </a:avLst>
          </a:prstGeom>
          <a:solidFill>
            <a:srgbClr val="F2F6F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pobreza no se agota en el ingreso.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755648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 mide oficialmente la pobreza multidimensional con 5 dimensiones (educación, salud, trabajo y seguridad social, vivienda y entorno, redes). Este trabajo se enfoca en los predictores NO monetarios: salud, educación y entorno residencial.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329184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411480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Salud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457200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Previsión, acceso a atención y barreras (costo, distancia, listas de espera)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297180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329184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Educación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63440" y="457200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Escolaridad, asistencia y rezago escolar del hogar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38160" y="297180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3291840"/>
            <a:ext cx="640080" cy="64008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8" name="Text 16"/>
          <p:cNvSpPr/>
          <p:nvPr/>
        </p:nvSpPr>
        <p:spPr>
          <a:xfrm>
            <a:off x="845820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58200" y="411480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 residencial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58200" y="4572000"/>
            <a:ext cx="2880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Materialidad, hacinamiento y contaminación del entorno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CASEN 2024  ·  Predictores no monetarios de la pobreza multidimensional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INSTITUCIÓN A CARGO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¿Quién produce estos datos?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2F6F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673352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733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490472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Ministerio de Desarrollo Social y Familia (MDSF)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00200" y="1837944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Organismo responsable de la Encuesta Casen 2024. A través de la Subsecretaría de Evaluación Social, define la metodología y publica los resultados oficiales.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843784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4378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2660904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Centro de Microdatos, FEN — Universidad de Chile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00200" y="3008376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Adjudicado vía licitación pública. A cargo de la recolección y el procesamiento de los datos en terreno (nov. 2024 – feb. 2025).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2F6F8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014216"/>
            <a:ext cx="512064" cy="512064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142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831336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Instituto Nacional de Estadísticas (INE)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600200" y="4178808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muestral, actualización del marco muestral y elaboración de los factores de expansión.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928616"/>
            <a:ext cx="110642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184648"/>
            <a:ext cx="512064" cy="512064"/>
          </a:xfrm>
          <a:prstGeom prst="ellipse">
            <a:avLst/>
          </a:prstGeom>
          <a:solidFill>
            <a:srgbClr val="3E6E8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1846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600200" y="500176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Comisión Asesora Presidencial + CEPAL + PNUD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600200" y="53492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técnica que revisó y actualizó la metodología de medición de pobreza aplicada en esta versión 2024.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CASEN 2024  ·  Predictores no monetarios de la pobreza multidimensional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Ficha técnica del estudio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1B2B5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96596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FD3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78.654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7889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encuestados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383280" y="173736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1B2B57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96596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FD3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218.367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520440" y="27889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 información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1B2B57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0" y="196596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FD3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355080" y="27889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comunas, 16 regiones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052560" y="173736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1B2B57"/>
          </a:solidFill>
          <a:ln/>
        </p:spPr>
      </p:sp>
      <p:sp>
        <p:nvSpPr>
          <p:cNvPr id="13" name="Text 11"/>
          <p:cNvSpPr/>
          <p:nvPr/>
        </p:nvSpPr>
        <p:spPr>
          <a:xfrm>
            <a:off x="9052560" y="196596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FD3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877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189720" y="278892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en la base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3794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Población objetivo y cobertura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7498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y personas residentes en viviendas particulares ocupadas del país (urbano y rural).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muestral probabilístico, estratificado y bietápico.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campo: 1 de noviembre de 2024 al 2 de febrero de 2025.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hogar “logrado” es aquel entrevistado que pasó todos los controles de supervisión y validación.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CASEN 2024  ·  Predictores no monetarios de la pobreza multidimensional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muestral y factores de expansión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representativa a nivel nacional, urbano/rural y regional — no a nivel provincial ni comunal.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173736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377440"/>
                <a:gridCol w="265176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 de expansión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¿Representativo?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Metodología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Regional (expr)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Nacional, urbano/rural, regional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Calibración raking (INE)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Provincial (expp)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recomendado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Totales poblacionales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Comunal (expc)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23A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recomendado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Totales poblacionales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86200"/>
            <a:ext cx="11064240" cy="1508760"/>
          </a:xfrm>
          <a:prstGeom prst="roundRect">
            <a:avLst>
              <a:gd name="adj" fmla="val 4242"/>
            </a:avLst>
          </a:prstGeom>
          <a:solidFill>
            <a:srgbClr val="F2F6F8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404164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Implicancia para nuestro análisis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4407408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estimaciones de este trabajo deben ponderarse con el factor de expansión regional (expr). Cualquier resultado a nivel provincial o comunal se reportará explícitamente como muestral / no ponderado, siguiendo la recomendación del Ministerio.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CASEN 2024  ·  Predictores no monetarios de la pobreza multidimensional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877 VARIABLES EN TOTAL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de la base de datos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69494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234440"/>
            <a:ext cx="3840480" cy="5029200"/>
          </a:xfrm>
          <a:prstGeom prst="roundRect">
            <a:avLst>
              <a:gd name="adj" fmla="val 1905"/>
            </a:avLst>
          </a:prstGeom>
          <a:solidFill>
            <a:srgbClr val="F2F6F8"/>
          </a:solidFill>
          <a:ln/>
        </p:spPr>
      </p:sp>
      <p:sp>
        <p:nvSpPr>
          <p:cNvPr id="6" name="Text 3"/>
          <p:cNvSpPr/>
          <p:nvPr/>
        </p:nvSpPr>
        <p:spPr>
          <a:xfrm>
            <a:off x="8092440" y="1417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de la encuesta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092440" y="1874520"/>
            <a:ext cx="32918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— Registro de residentes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Educación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— Trabajo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— Ingresos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Salud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Identidades, redes y participación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— Vivienda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Osig — Orientación sexual e identidad de género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CASEN 2024  ·  Predictores no monetarios de la pobreza multidimensional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 de limpieza y preparación de datos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08760" y="15087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Definir unidad de análisis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general, vivienda (id_vivienda), hogar (folio, filtro pco1_a=1) o núcleo familiar (folio + nucleo, filtro pco2_a=1).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92240" y="15544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178040" y="15087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Cruzar bases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 la base principal con la de provincia/comuna usando las llaves folio + id_persona.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977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08760" y="39319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Aplicar factor de expansión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Ponderar con expr para que las estimaciones sean representativas a nivel nacional/regional.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70332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39776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3977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78040" y="39319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no-respuesta y casos especiales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92240" y="4617720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valores perdidos por módulo; el Servicio Doméstico Puertas Adentro queda excluido de los indicadores de pobreza (núcleo = 0).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CASEN 2024  ·  Predictores no monetarios de la pobreza multidimensional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variable objetivo: pobreza multidimensional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931920" cy="4846320"/>
          </a:xfrm>
          <a:prstGeom prst="roundRect">
            <a:avLst>
              <a:gd name="adj" fmla="val 1860"/>
            </a:avLst>
          </a:prstGeom>
          <a:solidFill>
            <a:srgbClr val="1B2B5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pobreza_multi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17,6%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868680" y="32461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hogares está en situación de pobreza multidimensional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(37.492 de 212.471 hogares con dato válido)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2926080" cy="0"/>
          </a:xfrm>
          <a:prstGeom prst="line">
            <a:avLst/>
          </a:prstGeom>
          <a:noFill/>
          <a:ln w="12700">
            <a:solidFill>
              <a:srgbClr val="3E6E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4805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Construida a partir de 20 indicadores de carencia (hh_d_*) agrupados en 5 dimensiones oficiales.</a:t>
            </a:r>
            <a:endParaRPr lang="en-US" sz="11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754880" y="1371600"/>
          <a:ext cx="685800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CASEN 2024  ·  Predictores no monetarios de la pobreza multidimensional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MONETARIAS, POR DIMENSIÓN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predictoras candidatas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3794760"/>
          </a:xfrm>
          <a:prstGeom prst="roundRect">
            <a:avLst>
              <a:gd name="adj" fmla="val 2078"/>
            </a:avLst>
          </a:prstGeom>
          <a:solidFill>
            <a:srgbClr val="F2F6F8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371600"/>
            <a:ext cx="3520440" cy="4572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Salud (módulo S)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30632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s13 — sistema previsional de salud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 / s17 — problema de salud y si tuvo atención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s19a–s19e — barreras de acceso (costo, distancia, espera)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— estado nutricional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371600"/>
            <a:ext cx="3520440" cy="3794760"/>
          </a:xfrm>
          <a:prstGeom prst="roundRect">
            <a:avLst>
              <a:gd name="adj" fmla="val 2078"/>
            </a:avLst>
          </a:prstGeom>
          <a:solidFill>
            <a:srgbClr val="F2F6F8"/>
          </a:solidFill>
          <a:ln/>
        </p:spPr>
      </p:sp>
      <p:sp>
        <p:nvSpPr>
          <p:cNvPr id="9" name="Shape 7"/>
          <p:cNvSpPr/>
          <p:nvPr/>
        </p:nvSpPr>
        <p:spPr>
          <a:xfrm>
            <a:off x="4343400" y="1371600"/>
            <a:ext cx="3520440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13716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Educación (módulo E)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1965960"/>
            <a:ext cx="30632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de escolaridad del jefe/a de hogar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Asistencia escolar de niños/as del hogar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Rezago escolar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educativo alcanzado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371600"/>
            <a:ext cx="3520440" cy="3794760"/>
          </a:xfrm>
          <a:prstGeom prst="roundRect">
            <a:avLst>
              <a:gd name="adj" fmla="val 2078"/>
            </a:avLst>
          </a:prstGeom>
          <a:solidFill>
            <a:srgbClr val="F2F6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138160" y="1371600"/>
            <a:ext cx="3520440" cy="4572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13716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 residencial (módulo V)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66760" y="1965960"/>
            <a:ext cx="306324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/ v4 / v6 — materialidad de muros, piso, techo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/ v5 / v7 — estado de conservación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v12 — tamaño de la vivienda (m²)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v13 — tenencia de la vivienda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BEEE9"/>
          </a:solidFill>
          <a:ln w="12700">
            <a:solidFill>
              <a:srgbClr val="E8B4A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A3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Cuidado con la circularidad: las variables hh_d_* (carencias) usadas para construir pobreza_multi no se usan como predictoras — se trabaja con las variables crudas de los módulos S, E y V.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CASEN 2024  ·  Predictores no monetarios de la pobreza multidimensional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206240" cy="4206240"/>
          </a:xfrm>
          <a:prstGeom prst="ellipse">
            <a:avLst/>
          </a:prstGeom>
          <a:solidFill>
            <a:srgbClr val="1C7293">
              <a:alpha val="2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A INVESTIGAR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Hacia la Aplicación Final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1B2B57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1284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D3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Predictores dominantes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la importancia relativa de salud, educación y entorno mediante modelos logit/probit y Random Forest con feature importance (SHAP).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20116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1B2B57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0" y="221284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D3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Heterogeneidad territorial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75120" y="269748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¿Los predictores no monetarios pesan distinto entre zonas urbanas y rurales, o entre regiones?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1B2B5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445312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D3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Vulnerabilidad vs. pobreza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493776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hogares cerca del umbral (vulnerables) y no solo la clasificación binaria de pobreza multidimensional.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42519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1B2B57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445312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D3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Poder predictivo vs. explicativo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4937760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4EC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un enfoque explicativo (coeficientes interpretables) con uno predictivo (mejor ajuste, menor interpretabilidad).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CASEN 2024  ·  Predictores no monetarios de la pobreza multidimensional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2026-08-02T17:22:53Z</dcterms:created>
  <dcterms:modified xsi:type="dcterms:W3CDTF">2026-08-02T17:22:53Z</dcterms:modified>
</cp:coreProperties>
</file>