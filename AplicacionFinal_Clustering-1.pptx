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84"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Hoja_de_c_lculo_de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Hoja_de_c_lculo_de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Hoja_de_c_lculo_de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Hoja_de_c_lculo_de_Microsoft_Excel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1B2430"/>
                </a:solidFill>
                <a:latin typeface="Arial"/>
              </a:defRPr>
            </a:pPr>
            <a:r>
              <a:rPr sz="1300" b="0" i="0" u="none" strike="noStrike">
                <a:solidFill>
                  <a:srgbClr val="1B2430"/>
                </a:solidFill>
                <a:latin typeface="Arial"/>
              </a:rPr>
              <a:t>Silhouette score por k</a:t>
            </a:r>
          </a:p>
        </c:rich>
      </c:tx>
      <c:overlay val="0"/>
    </c:title>
    <c:autoTitleDeleted val="0"/>
    <c:plotArea>
      <c:layout/>
      <c:lineChart>
        <c:grouping val="standard"/>
        <c:varyColors val="0"/>
        <c:ser>
          <c:idx val="0"/>
          <c:order val="0"/>
          <c:tx>
            <c:strRef>
              <c:f>Sheet1!$B$1</c:f>
              <c:strCache>
                <c:ptCount val="1"/>
                <c:pt idx="0">
                  <c:v>Silhouette score</c:v>
                </c:pt>
              </c:strCache>
            </c:strRef>
          </c:tx>
          <c:spPr>
            <a:ln w="31750" cap="flat">
              <a:solidFill>
                <a:srgbClr val="065A82"/>
              </a:solidFill>
              <a:prstDash val="solid"/>
              <a:round/>
            </a:ln>
            <a:effectLst/>
          </c:spPr>
          <c:marker>
            <c:symbol val="circle"/>
            <c:size val="6"/>
            <c:spPr>
              <a:solidFill>
                <a:srgbClr val="065A82"/>
              </a:solidFill>
              <a:ln w="9525" cap="flat">
                <a:solidFill>
                  <a:srgbClr val="065A82"/>
                </a:solidFill>
                <a:prstDash val="solid"/>
                <a:round/>
              </a:ln>
              <a:effectLst/>
            </c:spPr>
          </c:marker>
          <c:dLbls>
            <c:numFmt formatCode="0.000" sourceLinked="0"/>
            <c:spPr>
              <a:noFill/>
              <a:ln>
                <a:noFill/>
              </a:ln>
              <a:effectLst/>
            </c:spPr>
            <c:txPr>
              <a:bodyPr/>
              <a:lstStyle/>
              <a:p>
                <a:pPr>
                  <a:defRPr sz="900" b="0" i="0" u="none" strike="noStrike">
                    <a:solidFill>
                      <a:srgbClr val="1B2430"/>
                    </a:solidFill>
                    <a:latin typeface="Aria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k=2</c:v>
                </c:pt>
                <c:pt idx="1">
                  <c:v>k=3</c:v>
                </c:pt>
                <c:pt idx="2">
                  <c:v>k=4</c:v>
                </c:pt>
                <c:pt idx="3">
                  <c:v>k=5</c:v>
                </c:pt>
                <c:pt idx="4">
                  <c:v>k=6</c:v>
                </c:pt>
                <c:pt idx="5">
                  <c:v>k=7</c:v>
                </c:pt>
                <c:pt idx="6">
                  <c:v>k=8</c:v>
                </c:pt>
              </c:strCache>
            </c:strRef>
          </c:cat>
          <c:val>
            <c:numRef>
              <c:f>Sheet1!$B$2:$B$8</c:f>
              <c:numCache>
                <c:formatCode>General</c:formatCode>
                <c:ptCount val="7"/>
                <c:pt idx="0">
                  <c:v>0.32</c:v>
                </c:pt>
                <c:pt idx="1">
                  <c:v>0.29399999999999998</c:v>
                </c:pt>
                <c:pt idx="2">
                  <c:v>0.30499999999999999</c:v>
                </c:pt>
                <c:pt idx="3">
                  <c:v>0.29699999999999999</c:v>
                </c:pt>
                <c:pt idx="4">
                  <c:v>0.30599999999999999</c:v>
                </c:pt>
                <c:pt idx="5">
                  <c:v>0.30199999999999999</c:v>
                </c:pt>
                <c:pt idx="6">
                  <c:v>0.27</c:v>
                </c:pt>
              </c:numCache>
            </c:numRef>
          </c:val>
          <c:smooth val="0"/>
          <c:extLst>
            <c:ext xmlns:c16="http://schemas.microsoft.com/office/drawing/2014/chart" uri="{C3380CC4-5D6E-409C-BE32-E72D297353CC}">
              <c16:uniqueId val="{00000000-CCEB-436C-99C4-842AF4F64D73}"/>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2430"/>
                </a:solidFill>
                <a:latin typeface="Arial"/>
              </a:defRPr>
            </a:pPr>
            <a:endParaRPr lang="es-AR"/>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C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B2430"/>
                </a:solidFill>
                <a:latin typeface="Arial"/>
              </a:defRPr>
            </a:pPr>
            <a:endParaRPr lang="es-AR"/>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1B2430"/>
                </a:solidFill>
                <a:latin typeface="Arial"/>
              </a:defRPr>
            </a:pPr>
            <a:r>
              <a:rPr sz="1300" b="0" i="0" u="none" strike="noStrike">
                <a:solidFill>
                  <a:srgbClr val="1B2430"/>
                </a:solidFill>
                <a:latin typeface="Arial"/>
              </a:rPr>
              <a:t>Inercia por k (método del codo)</a:t>
            </a:r>
          </a:p>
        </c:rich>
      </c:tx>
      <c:overlay val="0"/>
    </c:title>
    <c:autoTitleDeleted val="0"/>
    <c:plotArea>
      <c:layout/>
      <c:lineChart>
        <c:grouping val="standard"/>
        <c:varyColors val="0"/>
        <c:ser>
          <c:idx val="0"/>
          <c:order val="0"/>
          <c:tx>
            <c:strRef>
              <c:f>Sheet1!$B$1</c:f>
              <c:strCache>
                <c:ptCount val="1"/>
                <c:pt idx="0">
                  <c:v>Inercia</c:v>
                </c:pt>
              </c:strCache>
            </c:strRef>
          </c:tx>
          <c:spPr>
            <a:ln w="31750" cap="flat">
              <a:solidFill>
                <a:srgbClr val="1C7293"/>
              </a:solidFill>
              <a:prstDash val="solid"/>
              <a:round/>
            </a:ln>
            <a:effectLst/>
          </c:spPr>
          <c:marker>
            <c:symbol val="circle"/>
            <c:size val="6"/>
            <c:spPr>
              <a:solidFill>
                <a:srgbClr val="1C7293"/>
              </a:solidFill>
              <a:ln w="9525" cap="flat">
                <a:solidFill>
                  <a:srgbClr val="1C7293"/>
                </a:solidFill>
                <a:prstDash val="solid"/>
                <a:round/>
              </a:ln>
              <a:effectLst/>
            </c:spPr>
          </c:marker>
          <c:cat>
            <c:strRef>
              <c:f>Sheet1!$A$2:$A$8</c:f>
              <c:strCache>
                <c:ptCount val="7"/>
                <c:pt idx="0">
                  <c:v>k=2</c:v>
                </c:pt>
                <c:pt idx="1">
                  <c:v>k=3</c:v>
                </c:pt>
                <c:pt idx="2">
                  <c:v>k=4</c:v>
                </c:pt>
                <c:pt idx="3">
                  <c:v>k=5</c:v>
                </c:pt>
                <c:pt idx="4">
                  <c:v>k=6</c:v>
                </c:pt>
                <c:pt idx="5">
                  <c:v>k=7</c:v>
                </c:pt>
                <c:pt idx="6">
                  <c:v>k=8</c:v>
                </c:pt>
              </c:strCache>
            </c:strRef>
          </c:cat>
          <c:val>
            <c:numRef>
              <c:f>Sheet1!$B$2:$B$8</c:f>
              <c:numCache>
                <c:formatCode>General</c:formatCode>
                <c:ptCount val="7"/>
                <c:pt idx="0">
                  <c:v>156833.20000000001</c:v>
                </c:pt>
                <c:pt idx="1">
                  <c:v>142441.5</c:v>
                </c:pt>
                <c:pt idx="2">
                  <c:v>129074.5</c:v>
                </c:pt>
                <c:pt idx="3">
                  <c:v>120542.1</c:v>
                </c:pt>
                <c:pt idx="4">
                  <c:v>112530.4</c:v>
                </c:pt>
                <c:pt idx="5">
                  <c:v>107047.7</c:v>
                </c:pt>
                <c:pt idx="6">
                  <c:v>100532.5</c:v>
                </c:pt>
              </c:numCache>
            </c:numRef>
          </c:val>
          <c:smooth val="0"/>
          <c:extLst>
            <c:ext xmlns:c16="http://schemas.microsoft.com/office/drawing/2014/chart" uri="{C3380CC4-5D6E-409C-BE32-E72D297353CC}">
              <c16:uniqueId val="{00000000-632E-4EB4-889C-6BA3A0EFE05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2430"/>
                </a:solidFill>
                <a:latin typeface="Arial"/>
              </a:defRPr>
            </a:pPr>
            <a:endParaRPr lang="es-AR"/>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C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B2430"/>
                </a:solidFill>
                <a:latin typeface="Arial"/>
              </a:defRPr>
            </a:pPr>
            <a:endParaRPr lang="es-AR"/>
          </a:p>
        </c:txPr>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 de hogares pobres</c:v>
                </c:pt>
              </c:strCache>
            </c:strRef>
          </c:tx>
          <c:spPr>
            <a:solidFill>
              <a:srgbClr val="6FD3C7"/>
            </a:solidFill>
            <a:effectLst/>
          </c:spPr>
          <c:invertIfNegative val="0"/>
          <c:dPt>
            <c:idx val="0"/>
            <c:invertIfNegative val="0"/>
            <c:bubble3D val="0"/>
            <c:extLst>
              <c:ext xmlns:c16="http://schemas.microsoft.com/office/drawing/2014/chart" uri="{C3380CC4-5D6E-409C-BE32-E72D297353CC}">
                <c16:uniqueId val="{00000001-6ED6-46CA-A230-8DBF2B78AFFD}"/>
              </c:ext>
            </c:extLst>
          </c:dPt>
          <c:dPt>
            <c:idx val="1"/>
            <c:invertIfNegative val="0"/>
            <c:bubble3D val="0"/>
            <c:spPr>
              <a:solidFill>
                <a:srgbClr val="3E6E8E"/>
              </a:solidFill>
              <a:effectLst/>
            </c:spPr>
            <c:extLst>
              <c:ext xmlns:c16="http://schemas.microsoft.com/office/drawing/2014/chart" uri="{C3380CC4-5D6E-409C-BE32-E72D297353CC}">
                <c16:uniqueId val="{00000003-6ED6-46CA-A230-8DBF2B78AFFD}"/>
              </c:ext>
            </c:extLst>
          </c:dPt>
          <c:dPt>
            <c:idx val="2"/>
            <c:invertIfNegative val="0"/>
            <c:bubble3D val="0"/>
            <c:spPr>
              <a:solidFill>
                <a:srgbClr val="E8A36B"/>
              </a:solidFill>
              <a:effectLst/>
            </c:spPr>
            <c:extLst>
              <c:ext xmlns:c16="http://schemas.microsoft.com/office/drawing/2014/chart" uri="{C3380CC4-5D6E-409C-BE32-E72D297353CC}">
                <c16:uniqueId val="{00000005-6ED6-46CA-A230-8DBF2B78AFFD}"/>
              </c:ext>
            </c:extLst>
          </c:dPt>
          <c:dLbls>
            <c:numFmt formatCode="#,##0" sourceLinked="0"/>
            <c:spPr>
              <a:noFill/>
              <a:ln>
                <a:noFill/>
              </a:ln>
              <a:effectLst/>
            </c:spPr>
            <c:txPr>
              <a:bodyPr/>
              <a:lstStyle/>
              <a:p>
                <a:pPr>
                  <a:defRPr sz="1200" b="0" i="0" u="none" strike="noStrike">
                    <a:solidFill>
                      <a:srgbClr val="FFFFFF"/>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Cluster 0
(menos severo)</c:v>
                </c:pt>
                <c:pt idx="1">
                  <c:v>Cluster 2
(intermedio)</c:v>
                </c:pt>
                <c:pt idx="2">
                  <c:v>Cluster 1
(más severo)</c:v>
                </c:pt>
              </c:strCache>
            </c:strRef>
          </c:cat>
          <c:val>
            <c:numRef>
              <c:f>Sheet1!$B$2:$B$4</c:f>
              <c:numCache>
                <c:formatCode>General</c:formatCode>
                <c:ptCount val="3"/>
                <c:pt idx="0">
                  <c:v>40.03</c:v>
                </c:pt>
                <c:pt idx="1">
                  <c:v>33.53</c:v>
                </c:pt>
                <c:pt idx="2">
                  <c:v>26.44</c:v>
                </c:pt>
              </c:numCache>
            </c:numRef>
          </c:val>
          <c:extLst>
            <c:ext xmlns:c16="http://schemas.microsoft.com/office/drawing/2014/chart" uri="{C3380CC4-5D6E-409C-BE32-E72D297353CC}">
              <c16:uniqueId val="{00000006-6ED6-46CA-A230-8DBF2B78AFF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CADCFC"/>
                </a:solidFill>
                <a:latin typeface="Arial"/>
              </a:defRPr>
            </a:pPr>
            <a:endParaRPr lang="es-AR"/>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21295C"/>
        </a:solidFill>
        <a:ln>
          <a:noFill/>
        </a:ln>
        <a:effectLst/>
      </c:spPr>
    </c:plotArea>
    <c:plotVisOnly val="1"/>
    <c:dispBlanksAs val="span"/>
    <c:showDLblsOverMax val="1"/>
  </c:chart>
  <c:spPr>
    <a:solidFill>
      <a:srgbClr val="21295C"/>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0"/>
        <c:ser>
          <c:idx val="0"/>
          <c:order val="0"/>
          <c:tx>
            <c:strRef>
              <c:f>Sheet1!$B$1</c:f>
              <c:strCache>
                <c:ptCount val="1"/>
                <c:pt idx="0">
                  <c:v>Importancia (Random Forest)</c:v>
                </c:pt>
              </c:strCache>
            </c:strRef>
          </c:tx>
          <c:spPr>
            <a:solidFill>
              <a:srgbClr val="065A82"/>
            </a:solidFill>
            <a:effectLst/>
          </c:spPr>
          <c:invertIfNegative val="0"/>
          <c:dLbls>
            <c:numFmt formatCode="0.00" sourceLinked="0"/>
            <c:spPr>
              <a:noFill/>
              <a:ln>
                <a:noFill/>
              </a:ln>
              <a:effectLst/>
            </c:spPr>
            <c:txPr>
              <a:bodyPr/>
              <a:lstStyle/>
              <a:p>
                <a:pPr>
                  <a:defRPr sz="1050" b="0" i="0" u="none" strike="noStrike">
                    <a:solidFill>
                      <a:srgbClr val="1B2430"/>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Sheet1!$A$2:$A$10</c:f>
              <c:strCache>
                <c:ptCount val="9"/>
                <c:pt idx="0">
                  <c:v>v12 (tamaño vivienda)</c:v>
                </c:pt>
                <c:pt idx="1">
                  <c:v>v5 (estado techo)</c:v>
                </c:pt>
                <c:pt idx="2">
                  <c:v>v3 (estado muros)</c:v>
                </c:pt>
                <c:pt idx="3">
                  <c:v>v7 (estado piso)</c:v>
                </c:pt>
                <c:pt idx="4">
                  <c:v>v13 (tenencia)</c:v>
                </c:pt>
                <c:pt idx="5">
                  <c:v>v4 (material piso)</c:v>
                </c:pt>
                <c:pt idx="6">
                  <c:v>v2 (material muros)</c:v>
                </c:pt>
                <c:pt idx="7">
                  <c:v>v6 (material techo)</c:v>
                </c:pt>
                <c:pt idx="8">
                  <c:v>s16 (problema de salud)</c:v>
                </c:pt>
              </c:strCache>
            </c:strRef>
          </c:cat>
          <c:val>
            <c:numRef>
              <c:f>Sheet1!$B$2:$B$10</c:f>
              <c:numCache>
                <c:formatCode>General</c:formatCode>
                <c:ptCount val="9"/>
                <c:pt idx="0">
                  <c:v>0.22259999999999999</c:v>
                </c:pt>
                <c:pt idx="1">
                  <c:v>0.1176</c:v>
                </c:pt>
                <c:pt idx="2">
                  <c:v>0.11600000000000001</c:v>
                </c:pt>
                <c:pt idx="3">
                  <c:v>0.11559999999999999</c:v>
                </c:pt>
                <c:pt idx="4">
                  <c:v>8.3099999999999993E-2</c:v>
                </c:pt>
                <c:pt idx="5">
                  <c:v>5.9200000000000003E-2</c:v>
                </c:pt>
                <c:pt idx="6">
                  <c:v>5.4800000000000001E-2</c:v>
                </c:pt>
                <c:pt idx="7">
                  <c:v>4.3799999999999999E-2</c:v>
                </c:pt>
                <c:pt idx="8">
                  <c:v>4.1099999999999998E-2</c:v>
                </c:pt>
              </c:numCache>
            </c:numRef>
          </c:val>
          <c:extLst>
            <c:ext xmlns:c16="http://schemas.microsoft.com/office/drawing/2014/chart" uri="{C3380CC4-5D6E-409C-BE32-E72D297353CC}">
              <c16:uniqueId val="{00000000-BEBE-4627-B747-7AC4A7EFF39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430"/>
                </a:solidFill>
                <a:latin typeface="Arial"/>
              </a:defRPr>
            </a:pPr>
            <a:endParaRPr lang="es-AR"/>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AUC</c:v>
                </c:pt>
              </c:strCache>
            </c:strRef>
          </c:tx>
          <c:spPr>
            <a:solidFill>
              <a:srgbClr val="065A82"/>
            </a:solidFill>
            <a:effectLst/>
          </c:spPr>
          <c:invertIfNegative val="0"/>
          <c:dPt>
            <c:idx val="0"/>
            <c:invertIfNegative val="0"/>
            <c:bubble3D val="0"/>
            <c:spPr>
              <a:solidFill>
                <a:srgbClr val="065A82"/>
              </a:solidFill>
              <a:effectLst/>
            </c:spPr>
            <c:extLst>
              <c:ext xmlns:c16="http://schemas.microsoft.com/office/drawing/2014/chart" uri="{C3380CC4-5D6E-409C-BE32-E72D297353CC}">
                <c16:uniqueId val="{00000001-3089-418A-BF3A-12FAA8E51E1D}"/>
              </c:ext>
            </c:extLst>
          </c:dPt>
          <c:dPt>
            <c:idx val="1"/>
            <c:invertIfNegative val="0"/>
            <c:bubble3D val="0"/>
            <c:spPr>
              <a:solidFill>
                <a:srgbClr val="B7C4CC"/>
              </a:solidFill>
              <a:effectLst/>
            </c:spPr>
            <c:extLst>
              <c:ext xmlns:c16="http://schemas.microsoft.com/office/drawing/2014/chart" uri="{C3380CC4-5D6E-409C-BE32-E72D297353CC}">
                <c16:uniqueId val="{00000003-3089-418A-BF3A-12FAA8E51E1D}"/>
              </c:ext>
            </c:extLst>
          </c:dPt>
          <c:dLbls>
            <c:numFmt formatCode="0.000" sourceLinked="0"/>
            <c:spPr>
              <a:noFill/>
              <a:ln>
                <a:noFill/>
              </a:ln>
              <a:effectLst/>
            </c:spPr>
            <c:txPr>
              <a:bodyPr/>
              <a:lstStyle/>
              <a:p>
                <a:pPr>
                  <a:defRPr sz="1300" b="0" i="0" u="none" strike="noStrike">
                    <a:solidFill>
                      <a:srgbClr val="1B2430"/>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Vivienda</c:v>
                </c:pt>
                <c:pt idx="1">
                  <c:v>Salud</c:v>
                </c:pt>
              </c:strCache>
            </c:strRef>
          </c:cat>
          <c:val>
            <c:numRef>
              <c:f>Sheet1!$B$2:$B$3</c:f>
              <c:numCache>
                <c:formatCode>General</c:formatCode>
                <c:ptCount val="2"/>
                <c:pt idx="0">
                  <c:v>0.61499999999999999</c:v>
                </c:pt>
                <c:pt idx="1">
                  <c:v>0.53400000000000003</c:v>
                </c:pt>
              </c:numCache>
            </c:numRef>
          </c:val>
          <c:extLst>
            <c:ext xmlns:c16="http://schemas.microsoft.com/office/drawing/2014/chart" uri="{C3380CC4-5D6E-409C-BE32-E72D297353CC}">
              <c16:uniqueId val="{00000004-3089-418A-BF3A-12FAA8E51E1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430"/>
                </a:solidFill>
                <a:latin typeface="Arial"/>
              </a:defRPr>
            </a:pPr>
            <a:endParaRPr lang="es-AR"/>
          </a:p>
        </c:txPr>
        <c:crossAx val="2094734552"/>
        <c:crosses val="autoZero"/>
        <c:auto val="1"/>
        <c:lblAlgn val="ctr"/>
        <c:lblOffset val="100"/>
        <c:noMultiLvlLbl val="1"/>
      </c:catAx>
      <c:valAx>
        <c:axId val="2094734552"/>
        <c:scaling>
          <c:orientation val="minMax"/>
          <c:max val="0.7"/>
          <c:min val="0.45"/>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0050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509760" y="-1280160"/>
            <a:ext cx="4206240" cy="4206240"/>
          </a:xfrm>
          <a:prstGeom prst="ellipse">
            <a:avLst/>
          </a:prstGeom>
          <a:solidFill>
            <a:srgbClr val="1C7293">
              <a:alpha val="28000"/>
            </a:srgbClr>
          </a:solidFill>
          <a:ln/>
        </p:spPr>
      </p:sp>
      <p:sp>
        <p:nvSpPr>
          <p:cNvPr id="3" name="Shape 1"/>
          <p:cNvSpPr/>
          <p:nvPr/>
        </p:nvSpPr>
        <p:spPr>
          <a:xfrm>
            <a:off x="10607040" y="4206240"/>
            <a:ext cx="2834640" cy="2834640"/>
          </a:xfrm>
          <a:prstGeom prst="ellipse">
            <a:avLst/>
          </a:prstGeom>
          <a:solidFill>
            <a:srgbClr val="065A82">
              <a:alpha val="45000"/>
            </a:srgbClr>
          </a:solidFill>
          <a:ln/>
        </p:spPr>
      </p:sp>
      <p:sp>
        <p:nvSpPr>
          <p:cNvPr id="4" name="Text 2"/>
          <p:cNvSpPr txBox="1"/>
          <p:nvPr/>
        </p:nvSpPr>
        <p:spPr>
          <a:xfrm>
            <a:off x="731520" y="1188720"/>
            <a:ext cx="9144000" cy="365760"/>
          </a:xfrm>
          <a:prstGeom prst="rect">
            <a:avLst/>
          </a:prstGeom>
          <a:noFill/>
          <a:ln/>
        </p:spPr>
        <p:txBody>
          <a:bodyPr wrap="square" rtlCol="0" anchor="ctr"/>
          <a:lstStyle/>
          <a:p>
            <a:pPr marL="0" indent="0">
              <a:buNone/>
            </a:pPr>
            <a:r>
              <a:rPr lang="en-US" sz="1300" b="1" kern="0" spc="150" dirty="0">
                <a:solidFill>
                  <a:srgbClr val="8FB4D6"/>
                </a:solidFill>
                <a:latin typeface="Calibri" pitchFamily="34" charset="0"/>
                <a:ea typeface="Calibri" pitchFamily="34" charset="-122"/>
                <a:cs typeface="Calibri" pitchFamily="34" charset="-120"/>
              </a:rPr>
              <a:t>TALLER DE PROGRAMACIÓN · UBA 2026 · APLICACIÓN FINAL</a:t>
            </a:r>
            <a:endParaRPr lang="en-US" sz="1300" dirty="0"/>
          </a:p>
        </p:txBody>
      </p:sp>
      <p:sp>
        <p:nvSpPr>
          <p:cNvPr id="5" name="Text 3"/>
          <p:cNvSpPr txBox="1"/>
          <p:nvPr/>
        </p:nvSpPr>
        <p:spPr>
          <a:xfrm>
            <a:off x="731520" y="1645920"/>
            <a:ext cx="10241280" cy="1828800"/>
          </a:xfrm>
          <a:prstGeom prst="rect">
            <a:avLst/>
          </a:prstGeom>
          <a:noFill/>
          <a:ln/>
        </p:spPr>
        <p:txBody>
          <a:bodyPr wrap="square"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Clustering aplicado a la severidad</a:t>
            </a:r>
            <a:endParaRPr lang="en-US" sz="3600" dirty="0"/>
          </a:p>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de la pobreza multidimensional</a:t>
            </a:r>
            <a:endParaRPr lang="en-US" sz="3600" dirty="0"/>
          </a:p>
        </p:txBody>
      </p:sp>
      <p:sp>
        <p:nvSpPr>
          <p:cNvPr id="6" name="Text 4"/>
          <p:cNvSpPr txBox="1"/>
          <p:nvPr/>
        </p:nvSpPr>
        <p:spPr>
          <a:xfrm>
            <a:off x="731520" y="3520440"/>
            <a:ext cx="8778240" cy="914400"/>
          </a:xfrm>
          <a:prstGeom prst="rect">
            <a:avLst/>
          </a:prstGeom>
          <a:noFill/>
          <a:ln/>
        </p:spPr>
        <p:txBody>
          <a:bodyPr wrap="square" rtlCol="0" anchor="ctr"/>
          <a:lstStyle/>
          <a:p>
            <a:pPr marL="0" indent="0">
              <a:lnSpc>
                <a:spcPct val="120000"/>
              </a:lnSpc>
              <a:buNone/>
            </a:pPr>
            <a:r>
              <a:rPr lang="en-US" sz="1450" i="1" dirty="0">
                <a:solidFill>
                  <a:srgbClr val="CADCFC"/>
                </a:solidFill>
                <a:latin typeface="Calibri" pitchFamily="34" charset="0"/>
                <a:ea typeface="Calibri" pitchFamily="34" charset="-122"/>
                <a:cs typeface="Calibri" pitchFamily="34" charset="-120"/>
              </a:rPr>
              <a:t>Encontrar a los hogares más severamente afectados dentro del grupo de hogares pobres, usando K-means sobre variables de redes de apoyo e inseguridad alimentaria.</a:t>
            </a:r>
            <a:endParaRPr lang="en-US" sz="1450" dirty="0"/>
          </a:p>
        </p:txBody>
      </p:sp>
      <p:sp>
        <p:nvSpPr>
          <p:cNvPr id="7" name="Text 5"/>
          <p:cNvSpPr txBox="1"/>
          <p:nvPr/>
        </p:nvSpPr>
        <p:spPr>
          <a:xfrm>
            <a:off x="731520" y="4709160"/>
            <a:ext cx="8229600" cy="365760"/>
          </a:xfrm>
          <a:prstGeom prst="rect">
            <a:avLst/>
          </a:prstGeom>
          <a:noFill/>
          <a:ln/>
        </p:spPr>
        <p:txBody>
          <a:bodyPr wrap="square" rtlCol="0" anchor="ctr"/>
          <a:lstStyle/>
          <a:p>
            <a:pPr marL="0" indent="0">
              <a:buNone/>
            </a:pPr>
            <a:r>
              <a:rPr lang="en-US" sz="1200" dirty="0">
                <a:solidFill>
                  <a:srgbClr val="9FB4C8"/>
                </a:solidFill>
                <a:latin typeface="Calibri" pitchFamily="34" charset="0"/>
                <a:ea typeface="Calibri" pitchFamily="34" charset="-122"/>
                <a:cs typeface="Calibri" pitchFamily="34" charset="-120"/>
              </a:rPr>
              <a:t>Segunda instancia de exposiciones · Aplicación de una herramienta vista en clase</a:t>
            </a:r>
            <a:endParaRPr lang="en-US" sz="1200" dirty="0"/>
          </a:p>
        </p:txBody>
      </p:sp>
      <p:sp>
        <p:nvSpPr>
          <p:cNvPr id="8" name="Text 6"/>
          <p:cNvSpPr txBox="1"/>
          <p:nvPr/>
        </p:nvSpPr>
        <p:spPr>
          <a:xfrm>
            <a:off x="731520" y="5806440"/>
            <a:ext cx="9144000" cy="320040"/>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Grupo 2 · Andrea Chasi, Pablo Ortiz, Santiago Soler</a:t>
            </a:r>
            <a:endParaRPr lang="en-US" sz="1200" dirty="0"/>
          </a:p>
        </p:txBody>
      </p:sp>
      <p:sp>
        <p:nvSpPr>
          <p:cNvPr id="9" name="Text 7"/>
          <p:cNvSpPr txBox="1"/>
          <p:nvPr/>
        </p:nvSpPr>
        <p:spPr>
          <a:xfrm>
            <a:off x="731520" y="6172200"/>
            <a:ext cx="10058400" cy="320040"/>
          </a:xfrm>
          <a:prstGeom prst="rect">
            <a:avLst/>
          </a:prstGeom>
          <a:noFill/>
          <a:ln/>
        </p:spPr>
        <p:txBody>
          <a:bodyPr wrap="square" rtlCol="0" anchor="ctr"/>
          <a:lstStyle/>
          <a:p>
            <a:pPr marL="0" indent="0">
              <a:buNone/>
            </a:pPr>
            <a:r>
              <a:rPr lang="en-US" sz="1050" dirty="0">
                <a:solidFill>
                  <a:srgbClr val="7C93A8"/>
                </a:solidFill>
                <a:latin typeface="Calibri" pitchFamily="34" charset="0"/>
                <a:ea typeface="Calibri" pitchFamily="34" charset="-122"/>
                <a:cs typeface="Calibri" pitchFamily="34" charset="-120"/>
              </a:rPr>
              <a:t>Fuente: Encuesta CASEN 2024 (MDSF, Chile)  ·  Repositorio: github.com/santimsoler/APLICACIONFINAL_PROGRAMACION_UBA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78992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De dónde veníamos</a:t>
            </a:r>
            <a:endParaRPr lang="en-US" sz="2600" dirty="0"/>
          </a:p>
        </p:txBody>
      </p:sp>
      <p:sp>
        <p:nvSpPr>
          <p:cNvPr id="3" name="Shape 1"/>
          <p:cNvSpPr/>
          <p:nvPr/>
        </p:nvSpPr>
        <p:spPr>
          <a:xfrm>
            <a:off x="548640" y="1371600"/>
            <a:ext cx="11064240" cy="1371600"/>
          </a:xfrm>
          <a:prstGeom prst="roundRect">
            <a:avLst>
              <a:gd name="adj" fmla="val 4667"/>
            </a:avLst>
          </a:prstGeom>
          <a:solidFill>
            <a:srgbClr val="F2F6F8"/>
          </a:solidFill>
          <a:ln/>
        </p:spPr>
      </p:sp>
      <p:sp>
        <p:nvSpPr>
          <p:cNvPr id="4" name="Text 2"/>
          <p:cNvSpPr txBox="1"/>
          <p:nvPr/>
        </p:nvSpPr>
        <p:spPr>
          <a:xfrm>
            <a:off x="914400" y="1508760"/>
            <a:ext cx="10332720" cy="320040"/>
          </a:xfrm>
          <a:prstGeom prst="rect">
            <a:avLst/>
          </a:prstGeom>
          <a:noFill/>
          <a:ln/>
        </p:spPr>
        <p:txBody>
          <a:bodyPr wrap="square" rtlCol="0" anchor="ctr"/>
          <a:lstStyle/>
          <a:p>
            <a:pPr marL="0" indent="0">
              <a:buNone/>
            </a:pPr>
            <a:r>
              <a:rPr lang="en-US" sz="1450" b="1" dirty="0">
                <a:solidFill>
                  <a:srgbClr val="065A82"/>
                </a:solidFill>
                <a:latin typeface="Cambria" pitchFamily="34" charset="0"/>
                <a:ea typeface="Cambria" pitchFamily="34" charset="-122"/>
                <a:cs typeface="Cambria" pitchFamily="34" charset="-120"/>
              </a:rPr>
              <a:t>Pregunta de investigación</a:t>
            </a:r>
            <a:endParaRPr lang="en-US" sz="1450" dirty="0"/>
          </a:p>
        </p:txBody>
      </p:sp>
      <p:sp>
        <p:nvSpPr>
          <p:cNvPr id="5" name="Text 3"/>
          <p:cNvSpPr txBox="1"/>
          <p:nvPr/>
        </p:nvSpPr>
        <p:spPr>
          <a:xfrm>
            <a:off x="914400" y="1874520"/>
            <a:ext cx="10332720" cy="777240"/>
          </a:xfrm>
          <a:prstGeom prst="rect">
            <a:avLst/>
          </a:prstGeom>
          <a:noFill/>
          <a:ln/>
        </p:spPr>
        <p:txBody>
          <a:bodyPr wrap="square" rtlCol="0" anchor="ctr"/>
          <a:lstStyle/>
          <a:p>
            <a:pPr marL="0" indent="0">
              <a:lnSpc>
                <a:spcPct val="120000"/>
              </a:lnSpc>
              <a:buNone/>
            </a:pPr>
            <a:r>
              <a:rPr lang="en-US" sz="1300" dirty="0">
                <a:solidFill>
                  <a:srgbClr val="1B2430"/>
                </a:solidFill>
                <a:latin typeface="Calibri" pitchFamily="34" charset="0"/>
                <a:ea typeface="Calibri" pitchFamily="34" charset="-122"/>
                <a:cs typeface="Calibri" pitchFamily="34" charset="-120"/>
              </a:rPr>
              <a:t>¿Cuáles son los principales predictores no monetarios —salud, educación, vivienda y entorno residencial— del riesgo de pobreza multidimensional en la Encuesta CASEN 2024 (Chile)?</a:t>
            </a:r>
            <a:endParaRPr lang="en-US" sz="1300" dirty="0"/>
          </a:p>
        </p:txBody>
      </p:sp>
      <p:sp>
        <p:nvSpPr>
          <p:cNvPr id="6" name="Shape 4"/>
          <p:cNvSpPr/>
          <p:nvPr/>
        </p:nvSpPr>
        <p:spPr>
          <a:xfrm>
            <a:off x="548640" y="3108960"/>
            <a:ext cx="3520440" cy="1554480"/>
          </a:xfrm>
          <a:prstGeom prst="roundRect">
            <a:avLst>
              <a:gd name="adj" fmla="val 4706"/>
            </a:avLst>
          </a:prstGeom>
          <a:solidFill>
            <a:srgbClr val="FFFFFF"/>
          </a:solidFill>
          <a:ln w="12700">
            <a:solidFill>
              <a:srgbClr val="DCE6EC"/>
            </a:solidFill>
            <a:prstDash val="solid"/>
          </a:ln>
        </p:spPr>
      </p:sp>
      <p:sp>
        <p:nvSpPr>
          <p:cNvPr id="7" name="Text 5"/>
          <p:cNvSpPr txBox="1"/>
          <p:nvPr/>
        </p:nvSpPr>
        <p:spPr>
          <a:xfrm>
            <a:off x="548640" y="3291840"/>
            <a:ext cx="3520440" cy="685800"/>
          </a:xfrm>
          <a:prstGeom prst="rect">
            <a:avLst/>
          </a:prstGeom>
          <a:noFill/>
          <a:ln/>
        </p:spPr>
        <p:txBody>
          <a:bodyPr wrap="square" rtlCol="0" anchor="ctr"/>
          <a:lstStyle/>
          <a:p>
            <a:pPr marL="0" indent="0" algn="ctr">
              <a:buNone/>
            </a:pPr>
            <a:r>
              <a:rPr lang="en-US" sz="2800" b="1" dirty="0">
                <a:solidFill>
                  <a:srgbClr val="065A82"/>
                </a:solidFill>
                <a:latin typeface="Cambria" pitchFamily="34" charset="0"/>
                <a:ea typeface="Cambria" pitchFamily="34" charset="-122"/>
                <a:cs typeface="Cambria" pitchFamily="34" charset="-120"/>
              </a:rPr>
              <a:t>78.654</a:t>
            </a:r>
            <a:endParaRPr lang="en-US" sz="2800" dirty="0"/>
          </a:p>
        </p:txBody>
      </p:sp>
      <p:sp>
        <p:nvSpPr>
          <p:cNvPr id="8" name="Text 6"/>
          <p:cNvSpPr txBox="1"/>
          <p:nvPr/>
        </p:nvSpPr>
        <p:spPr>
          <a:xfrm>
            <a:off x="731520" y="4023360"/>
            <a:ext cx="3154680" cy="548640"/>
          </a:xfrm>
          <a:prstGeom prst="rect">
            <a:avLst/>
          </a:prstGeom>
          <a:noFill/>
          <a:ln/>
        </p:spPr>
        <p:txBody>
          <a:bodyPr wrap="square" rtlCol="0" anchor="ctr"/>
          <a:lstStyle/>
          <a:p>
            <a:pPr marL="0" indent="0" algn="ctr">
              <a:buNone/>
            </a:pPr>
            <a:r>
              <a:rPr lang="en-US" sz="1150" dirty="0">
                <a:solidFill>
                  <a:srgbClr val="5A6B75"/>
                </a:solidFill>
                <a:latin typeface="Calibri" pitchFamily="34" charset="0"/>
                <a:ea typeface="Calibri" pitchFamily="34" charset="-122"/>
                <a:cs typeface="Calibri" pitchFamily="34" charset="-120"/>
              </a:rPr>
              <a:t>hogares encuestados</a:t>
            </a:r>
            <a:endParaRPr lang="en-US" sz="1150" dirty="0"/>
          </a:p>
        </p:txBody>
      </p:sp>
      <p:sp>
        <p:nvSpPr>
          <p:cNvPr id="9" name="Shape 7"/>
          <p:cNvSpPr/>
          <p:nvPr/>
        </p:nvSpPr>
        <p:spPr>
          <a:xfrm>
            <a:off x="4343400" y="3108960"/>
            <a:ext cx="3520440" cy="1554480"/>
          </a:xfrm>
          <a:prstGeom prst="roundRect">
            <a:avLst>
              <a:gd name="adj" fmla="val 4706"/>
            </a:avLst>
          </a:prstGeom>
          <a:solidFill>
            <a:srgbClr val="FFFFFF"/>
          </a:solidFill>
          <a:ln w="12700">
            <a:solidFill>
              <a:srgbClr val="DCE6EC"/>
            </a:solidFill>
            <a:prstDash val="solid"/>
          </a:ln>
        </p:spPr>
      </p:sp>
      <p:sp>
        <p:nvSpPr>
          <p:cNvPr id="10" name="Text 8"/>
          <p:cNvSpPr txBox="1"/>
          <p:nvPr/>
        </p:nvSpPr>
        <p:spPr>
          <a:xfrm>
            <a:off x="4343400" y="3291840"/>
            <a:ext cx="3520440" cy="685800"/>
          </a:xfrm>
          <a:prstGeom prst="rect">
            <a:avLst/>
          </a:prstGeom>
          <a:noFill/>
          <a:ln/>
        </p:spPr>
        <p:txBody>
          <a:bodyPr wrap="square" rtlCol="0" anchor="ctr"/>
          <a:lstStyle/>
          <a:p>
            <a:pPr marL="0" indent="0" algn="ctr">
              <a:buNone/>
            </a:pPr>
            <a:r>
              <a:rPr lang="en-US" sz="2800" b="1" dirty="0">
                <a:solidFill>
                  <a:srgbClr val="065A82"/>
                </a:solidFill>
                <a:latin typeface="Cambria" pitchFamily="34" charset="0"/>
                <a:ea typeface="Cambria" pitchFamily="34" charset="-122"/>
                <a:cs typeface="Cambria" pitchFamily="34" charset="-120"/>
              </a:rPr>
              <a:t>13,6%</a:t>
            </a:r>
            <a:endParaRPr lang="en-US" sz="2800" dirty="0"/>
          </a:p>
        </p:txBody>
      </p:sp>
      <p:sp>
        <p:nvSpPr>
          <p:cNvPr id="11" name="Text 9"/>
          <p:cNvSpPr txBox="1"/>
          <p:nvPr/>
        </p:nvSpPr>
        <p:spPr>
          <a:xfrm>
            <a:off x="4526280" y="4023360"/>
            <a:ext cx="3154680" cy="548640"/>
          </a:xfrm>
          <a:prstGeom prst="rect">
            <a:avLst/>
          </a:prstGeom>
          <a:noFill/>
          <a:ln/>
        </p:spPr>
        <p:txBody>
          <a:bodyPr wrap="square" rtlCol="0" anchor="ctr"/>
          <a:lstStyle/>
          <a:p>
            <a:pPr marL="0" indent="0" algn="ctr">
              <a:buNone/>
            </a:pPr>
            <a:r>
              <a:rPr lang="en-US" sz="1150" dirty="0">
                <a:solidFill>
                  <a:srgbClr val="5A6B75"/>
                </a:solidFill>
                <a:latin typeface="Calibri" pitchFamily="34" charset="0"/>
                <a:ea typeface="Calibri" pitchFamily="34" charset="-122"/>
                <a:cs typeface="Calibri" pitchFamily="34" charset="-120"/>
              </a:rPr>
              <a:t>hogares en </a:t>
            </a:r>
            <a:r>
              <a:rPr lang="en-US" sz="1150" dirty="0" err="1">
                <a:solidFill>
                  <a:srgbClr val="5A6B75"/>
                </a:solidFill>
                <a:latin typeface="Calibri" pitchFamily="34" charset="0"/>
                <a:ea typeface="Calibri" pitchFamily="34" charset="-122"/>
                <a:cs typeface="Calibri" pitchFamily="34" charset="-120"/>
              </a:rPr>
              <a:t>pobreza</a:t>
            </a:r>
            <a:r>
              <a:rPr lang="en-US" sz="1150" dirty="0">
                <a:solidFill>
                  <a:srgbClr val="5A6B75"/>
                </a:solidFill>
                <a:latin typeface="Calibri" pitchFamily="34" charset="0"/>
                <a:ea typeface="Calibri" pitchFamily="34" charset="-122"/>
                <a:cs typeface="Calibri" pitchFamily="34" charset="-120"/>
              </a:rPr>
              <a:t> </a:t>
            </a:r>
            <a:r>
              <a:rPr lang="en-US" sz="1150" dirty="0" smtClean="0">
                <a:solidFill>
                  <a:srgbClr val="5A6B75"/>
                </a:solidFill>
                <a:latin typeface="Calibri" pitchFamily="34" charset="0"/>
                <a:ea typeface="Calibri" pitchFamily="34" charset="-122"/>
                <a:cs typeface="Calibri" pitchFamily="34" charset="-120"/>
              </a:rPr>
              <a:t>multidimensional(17,7% </a:t>
            </a:r>
            <a:r>
              <a:rPr lang="en-US" sz="1150" dirty="0" err="1" smtClean="0">
                <a:solidFill>
                  <a:srgbClr val="5A6B75"/>
                </a:solidFill>
                <a:latin typeface="Calibri" pitchFamily="34" charset="0"/>
                <a:ea typeface="Calibri" pitchFamily="34" charset="-122"/>
                <a:cs typeface="Calibri" pitchFamily="34" charset="-120"/>
              </a:rPr>
              <a:t>si</a:t>
            </a:r>
            <a:r>
              <a:rPr lang="en-US" sz="1150" dirty="0" smtClean="0">
                <a:solidFill>
                  <a:srgbClr val="5A6B75"/>
                </a:solidFill>
                <a:latin typeface="Calibri" pitchFamily="34" charset="0"/>
                <a:ea typeface="Calibri" pitchFamily="34" charset="-122"/>
                <a:cs typeface="Calibri" pitchFamily="34" charset="-120"/>
              </a:rPr>
              <a:t> se </a:t>
            </a:r>
            <a:r>
              <a:rPr lang="en-US" sz="1150" dirty="0" err="1" smtClean="0">
                <a:solidFill>
                  <a:srgbClr val="5A6B75"/>
                </a:solidFill>
                <a:latin typeface="Calibri" pitchFamily="34" charset="0"/>
                <a:ea typeface="Calibri" pitchFamily="34" charset="-122"/>
                <a:cs typeface="Calibri" pitchFamily="34" charset="-120"/>
              </a:rPr>
              <a:t>mide</a:t>
            </a:r>
            <a:r>
              <a:rPr lang="en-US" sz="1150" dirty="0" smtClean="0">
                <a:solidFill>
                  <a:srgbClr val="5A6B75"/>
                </a:solidFill>
                <a:latin typeface="Calibri" pitchFamily="34" charset="0"/>
                <a:ea typeface="Calibri" pitchFamily="34" charset="-122"/>
                <a:cs typeface="Calibri" pitchFamily="34" charset="-120"/>
              </a:rPr>
              <a:t> personas)</a:t>
            </a:r>
            <a:endParaRPr lang="en-US" sz="1150" dirty="0"/>
          </a:p>
        </p:txBody>
      </p:sp>
      <p:sp>
        <p:nvSpPr>
          <p:cNvPr id="12" name="Shape 10"/>
          <p:cNvSpPr/>
          <p:nvPr/>
        </p:nvSpPr>
        <p:spPr>
          <a:xfrm>
            <a:off x="8138160" y="3108960"/>
            <a:ext cx="3520440" cy="1554480"/>
          </a:xfrm>
          <a:prstGeom prst="roundRect">
            <a:avLst>
              <a:gd name="adj" fmla="val 4706"/>
            </a:avLst>
          </a:prstGeom>
          <a:solidFill>
            <a:srgbClr val="FFFFFF"/>
          </a:solidFill>
          <a:ln w="12700">
            <a:solidFill>
              <a:srgbClr val="DCE6EC"/>
            </a:solidFill>
            <a:prstDash val="solid"/>
          </a:ln>
        </p:spPr>
      </p:sp>
      <p:sp>
        <p:nvSpPr>
          <p:cNvPr id="13" name="Text 11"/>
          <p:cNvSpPr txBox="1"/>
          <p:nvPr/>
        </p:nvSpPr>
        <p:spPr>
          <a:xfrm>
            <a:off x="8138160" y="3291840"/>
            <a:ext cx="3520440" cy="685800"/>
          </a:xfrm>
          <a:prstGeom prst="rect">
            <a:avLst/>
          </a:prstGeom>
          <a:noFill/>
          <a:ln/>
        </p:spPr>
        <p:txBody>
          <a:bodyPr wrap="square" rtlCol="0" anchor="ctr"/>
          <a:lstStyle/>
          <a:p>
            <a:pPr marL="0" indent="0" algn="ctr">
              <a:buNone/>
            </a:pPr>
            <a:r>
              <a:rPr lang="en-US" sz="2800" b="1" dirty="0">
                <a:solidFill>
                  <a:srgbClr val="065A82"/>
                </a:solidFill>
                <a:latin typeface="Cambria" pitchFamily="34" charset="0"/>
                <a:ea typeface="Cambria" pitchFamily="34" charset="-122"/>
                <a:cs typeface="Cambria" pitchFamily="34" charset="-120"/>
              </a:rPr>
              <a:t>10.421</a:t>
            </a:r>
            <a:endParaRPr lang="en-US" sz="2800" dirty="0"/>
          </a:p>
        </p:txBody>
      </p:sp>
      <p:sp>
        <p:nvSpPr>
          <p:cNvPr id="14" name="Text 12"/>
          <p:cNvSpPr txBox="1"/>
          <p:nvPr/>
        </p:nvSpPr>
        <p:spPr>
          <a:xfrm>
            <a:off x="8321040" y="4023360"/>
            <a:ext cx="3154680" cy="548640"/>
          </a:xfrm>
          <a:prstGeom prst="rect">
            <a:avLst/>
          </a:prstGeom>
          <a:noFill/>
          <a:ln/>
        </p:spPr>
        <p:txBody>
          <a:bodyPr wrap="square" rtlCol="0" anchor="ctr"/>
          <a:lstStyle/>
          <a:p>
            <a:pPr marL="0" indent="0" algn="ctr">
              <a:buNone/>
            </a:pPr>
            <a:r>
              <a:rPr lang="en-US" sz="1150" dirty="0">
                <a:solidFill>
                  <a:srgbClr val="5A6B75"/>
                </a:solidFill>
                <a:latin typeface="Calibri" pitchFamily="34" charset="0"/>
                <a:ea typeface="Calibri" pitchFamily="34" charset="-122"/>
                <a:cs typeface="Calibri" pitchFamily="34" charset="-120"/>
              </a:rPr>
              <a:t>hogares pobres (base de este análisis)</a:t>
            </a:r>
            <a:endParaRPr lang="en-US" sz="1150" dirty="0"/>
          </a:p>
        </p:txBody>
      </p:sp>
      <p:sp>
        <p:nvSpPr>
          <p:cNvPr id="15" name="Shape 13"/>
          <p:cNvSpPr/>
          <p:nvPr/>
        </p:nvSpPr>
        <p:spPr>
          <a:xfrm>
            <a:off x="548640" y="5029200"/>
            <a:ext cx="11064240" cy="1234440"/>
          </a:xfrm>
          <a:prstGeom prst="roundRect">
            <a:avLst>
              <a:gd name="adj" fmla="val 5185"/>
            </a:avLst>
          </a:prstGeom>
          <a:solidFill>
            <a:srgbClr val="F2F6F8"/>
          </a:solidFill>
          <a:ln/>
        </p:spPr>
      </p:sp>
      <p:sp>
        <p:nvSpPr>
          <p:cNvPr id="16" name="Text 14"/>
          <p:cNvSpPr txBox="1"/>
          <p:nvPr/>
        </p:nvSpPr>
        <p:spPr>
          <a:xfrm>
            <a:off x="914400" y="5148072"/>
            <a:ext cx="10332720" cy="274320"/>
          </a:xfrm>
          <a:prstGeom prst="rect">
            <a:avLst/>
          </a:prstGeom>
          <a:noFill/>
          <a:ln/>
        </p:spPr>
        <p:txBody>
          <a:bodyPr wrap="square" rtlCol="0" anchor="ctr"/>
          <a:lstStyle/>
          <a:p>
            <a:pPr marL="0" indent="0">
              <a:buNone/>
            </a:pPr>
            <a:r>
              <a:rPr lang="en-US" sz="1300" b="1" dirty="0">
                <a:solidFill>
                  <a:srgbClr val="21295C"/>
                </a:solidFill>
                <a:latin typeface="Cambria" pitchFamily="34" charset="0"/>
                <a:ea typeface="Cambria" pitchFamily="34" charset="-122"/>
                <a:cs typeface="Cambria" pitchFamily="34" charset="-120"/>
              </a:rPr>
              <a:t>En esta instancia</a:t>
            </a:r>
            <a:endParaRPr lang="en-US" sz="1300" dirty="0"/>
          </a:p>
        </p:txBody>
      </p:sp>
      <p:sp>
        <p:nvSpPr>
          <p:cNvPr id="17" name="Text 15"/>
          <p:cNvSpPr txBox="1"/>
          <p:nvPr/>
        </p:nvSpPr>
        <p:spPr>
          <a:xfrm>
            <a:off x="914400" y="5440680"/>
            <a:ext cx="10332720" cy="731520"/>
          </a:xfrm>
          <a:prstGeom prst="rect">
            <a:avLst/>
          </a:prstGeom>
          <a:noFill/>
          <a:ln/>
        </p:spPr>
        <p:txBody>
          <a:bodyPr wrap="square" rtlCol="0" anchor="ctr"/>
          <a:lstStyle/>
          <a:p>
            <a:pPr marL="0" indent="0">
              <a:lnSpc>
                <a:spcPct val="120000"/>
              </a:lnSpc>
              <a:buNone/>
            </a:pPr>
            <a:r>
              <a:rPr lang="en-US" sz="1250" dirty="0" err="1" smtClean="0">
                <a:solidFill>
                  <a:srgbClr val="1B2430"/>
                </a:solidFill>
                <a:latin typeface="Calibri" pitchFamily="34" charset="0"/>
                <a:ea typeface="Calibri" pitchFamily="34" charset="-122"/>
                <a:cs typeface="Calibri" pitchFamily="34" charset="-120"/>
              </a:rPr>
              <a:t>Planteamos</a:t>
            </a:r>
            <a:r>
              <a:rPr lang="en-US" sz="1250" dirty="0" smtClean="0">
                <a:solidFill>
                  <a:srgbClr val="1B2430"/>
                </a:solidFill>
                <a:latin typeface="Calibri" pitchFamily="34" charset="0"/>
                <a:ea typeface="Calibri" pitchFamily="34" charset="-122"/>
                <a:cs typeface="Calibri" pitchFamily="34" charset="-120"/>
              </a:rPr>
              <a:t> </a:t>
            </a:r>
            <a:r>
              <a:rPr lang="en-US" sz="1250" dirty="0" err="1" smtClean="0">
                <a:solidFill>
                  <a:srgbClr val="1B2430"/>
                </a:solidFill>
                <a:latin typeface="Calibri" pitchFamily="34" charset="0"/>
                <a:ea typeface="Calibri" pitchFamily="34" charset="-122"/>
                <a:cs typeface="Calibri" pitchFamily="34" charset="-120"/>
              </a:rPr>
              <a:t>en</a:t>
            </a:r>
            <a:r>
              <a:rPr lang="en-US" sz="1250" dirty="0" smtClean="0">
                <a:solidFill>
                  <a:srgbClr val="1B2430"/>
                </a:solidFill>
                <a:latin typeface="Calibri" pitchFamily="34" charset="0"/>
                <a:ea typeface="Calibri" pitchFamily="34" charset="-122"/>
                <a:cs typeface="Calibri" pitchFamily="34" charset="-120"/>
              </a:rPr>
              <a:t> </a:t>
            </a:r>
            <a:r>
              <a:rPr lang="en-US" sz="1250" dirty="0" err="1" smtClean="0">
                <a:solidFill>
                  <a:srgbClr val="1B2430"/>
                </a:solidFill>
                <a:latin typeface="Calibri" pitchFamily="34" charset="0"/>
                <a:ea typeface="Calibri" pitchFamily="34" charset="-122"/>
                <a:cs typeface="Calibri" pitchFamily="34" charset="-120"/>
              </a:rPr>
              <a:t>esta</a:t>
            </a:r>
            <a:r>
              <a:rPr lang="en-US" sz="1250" dirty="0" smtClean="0">
                <a:solidFill>
                  <a:srgbClr val="1B2430"/>
                </a:solidFill>
                <a:latin typeface="Calibri" pitchFamily="34" charset="0"/>
                <a:ea typeface="Calibri" pitchFamily="34" charset="-122"/>
                <a:cs typeface="Calibri" pitchFamily="34" charset="-120"/>
              </a:rPr>
              <a:t> </a:t>
            </a:r>
            <a:r>
              <a:rPr lang="en-US" sz="1250" dirty="0" err="1" smtClean="0">
                <a:solidFill>
                  <a:srgbClr val="1B2430"/>
                </a:solidFill>
                <a:latin typeface="Calibri" pitchFamily="34" charset="0"/>
                <a:ea typeface="Calibri" pitchFamily="34" charset="-122"/>
                <a:cs typeface="Calibri" pitchFamily="34" charset="-120"/>
              </a:rPr>
              <a:t>instacia</a:t>
            </a:r>
            <a:r>
              <a:rPr lang="en-US" sz="1250" dirty="0" smtClean="0">
                <a:solidFill>
                  <a:srgbClr val="1B2430"/>
                </a:solidFill>
                <a:latin typeface="Calibri" pitchFamily="34" charset="0"/>
                <a:ea typeface="Calibri" pitchFamily="34" charset="-122"/>
                <a:cs typeface="Calibri" pitchFamily="34" charset="-120"/>
              </a:rPr>
              <a:t> </a:t>
            </a:r>
            <a:r>
              <a:rPr lang="en-US" sz="1250" dirty="0" err="1" smtClean="0">
                <a:solidFill>
                  <a:srgbClr val="1B2430"/>
                </a:solidFill>
                <a:latin typeface="Calibri" pitchFamily="34" charset="0"/>
                <a:ea typeface="Calibri" pitchFamily="34" charset="-122"/>
                <a:cs typeface="Calibri" pitchFamily="34" charset="-120"/>
              </a:rPr>
              <a:t>ir</a:t>
            </a:r>
            <a:r>
              <a:rPr lang="en-US" sz="1250" dirty="0" smtClean="0">
                <a:solidFill>
                  <a:srgbClr val="1B2430"/>
                </a:solidFill>
                <a:latin typeface="Calibri" pitchFamily="34" charset="0"/>
                <a:ea typeface="Calibri" pitchFamily="34" charset="-122"/>
                <a:cs typeface="Calibri" pitchFamily="34" charset="-120"/>
              </a:rPr>
              <a:t> </a:t>
            </a:r>
            <a:r>
              <a:rPr lang="en-US" sz="1250" dirty="0">
                <a:solidFill>
                  <a:srgbClr val="1B2430"/>
                </a:solidFill>
                <a:latin typeface="Calibri" pitchFamily="34" charset="0"/>
                <a:ea typeface="Calibri" pitchFamily="34" charset="-122"/>
                <a:cs typeface="Calibri" pitchFamily="34" charset="-120"/>
              </a:rPr>
              <a:t>un paso más allá: no solo separar pobres de no pobres, sino encontrar a los hogares más severamente afectados dentro del grupo de pobres. Para eso aplicamos clustering (K-means).</a:t>
            </a:r>
            <a:endParaRPr lang="en-US" sz="1250" dirty="0"/>
          </a:p>
        </p:txBody>
      </p:sp>
      <p:sp>
        <p:nvSpPr>
          <p:cNvPr id="18" name="Text 16"/>
          <p:cNvSpPr txBox="1"/>
          <p:nvPr/>
        </p:nvSpPr>
        <p:spPr>
          <a:xfrm>
            <a:off x="548640" y="6492240"/>
            <a:ext cx="10058400" cy="274320"/>
          </a:xfrm>
          <a:prstGeom prst="rect">
            <a:avLst/>
          </a:prstGeom>
          <a:noFill/>
          <a:ln/>
        </p:spPr>
        <p:txBody>
          <a:bodyPr wrap="square" rtlCol="0" anchor="ctr"/>
          <a:lstStyle/>
          <a:p>
            <a:pPr marL="0" indent="0">
              <a:buNone/>
            </a:pPr>
            <a:r>
              <a:rPr lang="en-US" sz="850" dirty="0">
                <a:solidFill>
                  <a:srgbClr val="5A6B75"/>
                </a:solidFill>
                <a:latin typeface="Calibri" pitchFamily="34" charset="0"/>
                <a:ea typeface="Calibri" pitchFamily="34" charset="-122"/>
                <a:cs typeface="Calibri" pitchFamily="34" charset="-120"/>
              </a:rPr>
              <a:t>Aplicación Final · Clustering (K-means) sobre CASEN 2024 · github.com/santimsoler/APLICACIONFINAL_PROGRAMACION_UBA</a:t>
            </a:r>
            <a:endParaRPr lang="en-US" sz="850" dirty="0"/>
          </a:p>
        </p:txBody>
      </p:sp>
      <p:sp>
        <p:nvSpPr>
          <p:cNvPr id="19" name="Text 17"/>
          <p:cNvSpPr txBox="1"/>
          <p:nvPr/>
        </p:nvSpPr>
        <p:spPr>
          <a:xfrm>
            <a:off x="11521440" y="6492240"/>
            <a:ext cx="365760" cy="274320"/>
          </a:xfrm>
          <a:prstGeom prst="rect">
            <a:avLst/>
          </a:prstGeom>
          <a:noFill/>
          <a:ln/>
        </p:spPr>
        <p:txBody>
          <a:bodyPr wrap="square"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7432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LA HERRAMIENTA</a:t>
            </a:r>
            <a:endParaRPr lang="en-US" sz="1200" dirty="0"/>
          </a:p>
        </p:txBody>
      </p:sp>
      <p:sp>
        <p:nvSpPr>
          <p:cNvPr id="3" name="Text 1"/>
          <p:cNvSpPr txBox="1"/>
          <p:nvPr/>
        </p:nvSpPr>
        <p:spPr>
          <a:xfrm>
            <a:off x="548640" y="658368"/>
            <a:ext cx="1078992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Cómo funciona K-means</a:t>
            </a:r>
            <a:endParaRPr lang="en-US" sz="2600" dirty="0"/>
          </a:p>
        </p:txBody>
      </p:sp>
      <p:sp>
        <p:nvSpPr>
          <p:cNvPr id="4" name="Shape 2"/>
          <p:cNvSpPr/>
          <p:nvPr/>
        </p:nvSpPr>
        <p:spPr>
          <a:xfrm>
            <a:off x="548640" y="1417320"/>
            <a:ext cx="2606040" cy="1965960"/>
          </a:xfrm>
          <a:prstGeom prst="roundRect">
            <a:avLst>
              <a:gd name="adj" fmla="val 3721"/>
            </a:avLst>
          </a:prstGeom>
          <a:solidFill>
            <a:srgbClr val="F2F6F8"/>
          </a:solidFill>
          <a:ln/>
        </p:spPr>
      </p:sp>
      <p:sp>
        <p:nvSpPr>
          <p:cNvPr id="5" name="Shape 3"/>
          <p:cNvSpPr/>
          <p:nvPr/>
        </p:nvSpPr>
        <p:spPr>
          <a:xfrm>
            <a:off x="777240" y="1645920"/>
            <a:ext cx="457200" cy="457200"/>
          </a:xfrm>
          <a:prstGeom prst="ellipse">
            <a:avLst/>
          </a:prstGeom>
          <a:solidFill>
            <a:srgbClr val="065A82"/>
          </a:solidFill>
          <a:ln/>
        </p:spPr>
      </p:sp>
      <p:sp>
        <p:nvSpPr>
          <p:cNvPr id="6" name="Text 4"/>
          <p:cNvSpPr txBox="1"/>
          <p:nvPr/>
        </p:nvSpPr>
        <p:spPr>
          <a:xfrm>
            <a:off x="777240" y="1645920"/>
            <a:ext cx="457200" cy="45720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7" name="Text 5"/>
          <p:cNvSpPr txBox="1"/>
          <p:nvPr/>
        </p:nvSpPr>
        <p:spPr>
          <a:xfrm>
            <a:off x="731520" y="2240280"/>
            <a:ext cx="2240280" cy="320040"/>
          </a:xfrm>
          <a:prstGeom prst="rect">
            <a:avLst/>
          </a:prstGeom>
          <a:noFill/>
          <a:ln/>
        </p:spPr>
        <p:txBody>
          <a:bodyPr wrap="square" rtlCol="0" anchor="ctr"/>
          <a:lstStyle/>
          <a:p>
            <a:pPr marL="0" indent="0">
              <a:buNone/>
            </a:pPr>
            <a:r>
              <a:rPr lang="en-US" sz="1350" b="1" dirty="0">
                <a:solidFill>
                  <a:srgbClr val="1B2430"/>
                </a:solidFill>
                <a:latin typeface="Cambria" pitchFamily="34" charset="0"/>
                <a:ea typeface="Cambria" pitchFamily="34" charset="-122"/>
                <a:cs typeface="Cambria" pitchFamily="34" charset="-120"/>
              </a:rPr>
              <a:t>Elegir k</a:t>
            </a:r>
            <a:endParaRPr lang="en-US" sz="1350" dirty="0"/>
          </a:p>
        </p:txBody>
      </p:sp>
      <p:sp>
        <p:nvSpPr>
          <p:cNvPr id="8" name="Text 6"/>
          <p:cNvSpPr txBox="1"/>
          <p:nvPr/>
        </p:nvSpPr>
        <p:spPr>
          <a:xfrm>
            <a:off x="731520" y="2560320"/>
            <a:ext cx="2240280" cy="777240"/>
          </a:xfrm>
          <a:prstGeom prst="rect">
            <a:avLst/>
          </a:prstGeom>
          <a:noFill/>
          <a:ln/>
        </p:spPr>
        <p:txBody>
          <a:bodyPr wrap="square" rtlCol="0" anchor="ctr"/>
          <a:lstStyle/>
          <a:p>
            <a:pPr marL="0" indent="0">
              <a:lnSpc>
                <a:spcPct val="115000"/>
              </a:lnSpc>
              <a:buNone/>
            </a:pPr>
            <a:r>
              <a:rPr lang="en-US" sz="1050" dirty="0">
                <a:solidFill>
                  <a:srgbClr val="5A6B75"/>
                </a:solidFill>
                <a:latin typeface="Calibri" pitchFamily="34" charset="0"/>
                <a:ea typeface="Calibri" pitchFamily="34" charset="-122"/>
                <a:cs typeface="Calibri" pitchFamily="34" charset="-120"/>
              </a:rPr>
              <a:t>Se define cuántos grupos (clusters) se buscan formar.</a:t>
            </a:r>
            <a:endParaRPr lang="en-US" sz="1050" dirty="0"/>
          </a:p>
        </p:txBody>
      </p:sp>
      <p:sp>
        <p:nvSpPr>
          <p:cNvPr id="9" name="Shape 7"/>
          <p:cNvSpPr/>
          <p:nvPr/>
        </p:nvSpPr>
        <p:spPr>
          <a:xfrm>
            <a:off x="3383280" y="1417320"/>
            <a:ext cx="2606040" cy="1965960"/>
          </a:xfrm>
          <a:prstGeom prst="roundRect">
            <a:avLst>
              <a:gd name="adj" fmla="val 3721"/>
            </a:avLst>
          </a:prstGeom>
          <a:solidFill>
            <a:srgbClr val="F2F6F8"/>
          </a:solidFill>
          <a:ln/>
        </p:spPr>
      </p:sp>
      <p:sp>
        <p:nvSpPr>
          <p:cNvPr id="10" name="Shape 8"/>
          <p:cNvSpPr/>
          <p:nvPr/>
        </p:nvSpPr>
        <p:spPr>
          <a:xfrm>
            <a:off x="3611880" y="1645920"/>
            <a:ext cx="457200" cy="457200"/>
          </a:xfrm>
          <a:prstGeom prst="ellipse">
            <a:avLst/>
          </a:prstGeom>
          <a:solidFill>
            <a:srgbClr val="065A82"/>
          </a:solidFill>
          <a:ln/>
        </p:spPr>
      </p:sp>
      <p:sp>
        <p:nvSpPr>
          <p:cNvPr id="11" name="Text 9"/>
          <p:cNvSpPr txBox="1"/>
          <p:nvPr/>
        </p:nvSpPr>
        <p:spPr>
          <a:xfrm>
            <a:off x="3611880" y="1645920"/>
            <a:ext cx="457200" cy="45720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txBox="1"/>
          <p:nvPr/>
        </p:nvSpPr>
        <p:spPr>
          <a:xfrm>
            <a:off x="3566160" y="2240280"/>
            <a:ext cx="2240280" cy="320040"/>
          </a:xfrm>
          <a:prstGeom prst="rect">
            <a:avLst/>
          </a:prstGeom>
          <a:noFill/>
          <a:ln/>
        </p:spPr>
        <p:txBody>
          <a:bodyPr wrap="square" rtlCol="0" anchor="ctr"/>
          <a:lstStyle/>
          <a:p>
            <a:pPr marL="0" indent="0">
              <a:buNone/>
            </a:pPr>
            <a:r>
              <a:rPr lang="en-US" sz="1350" b="1" dirty="0">
                <a:solidFill>
                  <a:srgbClr val="1B2430"/>
                </a:solidFill>
                <a:latin typeface="Cambria" pitchFamily="34" charset="0"/>
                <a:ea typeface="Cambria" pitchFamily="34" charset="-122"/>
                <a:cs typeface="Cambria" pitchFamily="34" charset="-120"/>
              </a:rPr>
              <a:t>Asignar</a:t>
            </a:r>
            <a:endParaRPr lang="en-US" sz="1350" dirty="0"/>
          </a:p>
        </p:txBody>
      </p:sp>
      <p:sp>
        <p:nvSpPr>
          <p:cNvPr id="13" name="Text 11"/>
          <p:cNvSpPr txBox="1"/>
          <p:nvPr/>
        </p:nvSpPr>
        <p:spPr>
          <a:xfrm>
            <a:off x="3566160" y="2560320"/>
            <a:ext cx="2240280" cy="777240"/>
          </a:xfrm>
          <a:prstGeom prst="rect">
            <a:avLst/>
          </a:prstGeom>
          <a:noFill/>
          <a:ln/>
        </p:spPr>
        <p:txBody>
          <a:bodyPr wrap="square" rtlCol="0" anchor="ctr"/>
          <a:lstStyle/>
          <a:p>
            <a:pPr marL="0" indent="0">
              <a:lnSpc>
                <a:spcPct val="115000"/>
              </a:lnSpc>
              <a:buNone/>
            </a:pPr>
            <a:r>
              <a:rPr lang="en-US" sz="1050" dirty="0">
                <a:solidFill>
                  <a:srgbClr val="5A6B75"/>
                </a:solidFill>
                <a:latin typeface="Calibri" pitchFamily="34" charset="0"/>
                <a:ea typeface="Calibri" pitchFamily="34" charset="-122"/>
                <a:cs typeface="Calibri" pitchFamily="34" charset="-120"/>
              </a:rPr>
              <a:t>Cada observación se asigna al centroide (promedio del grupo) más cercano.</a:t>
            </a:r>
            <a:endParaRPr lang="en-US" sz="1050" dirty="0"/>
          </a:p>
        </p:txBody>
      </p:sp>
      <p:sp>
        <p:nvSpPr>
          <p:cNvPr id="14" name="Shape 12"/>
          <p:cNvSpPr/>
          <p:nvPr/>
        </p:nvSpPr>
        <p:spPr>
          <a:xfrm>
            <a:off x="6217920" y="1417320"/>
            <a:ext cx="2606040" cy="1965960"/>
          </a:xfrm>
          <a:prstGeom prst="roundRect">
            <a:avLst>
              <a:gd name="adj" fmla="val 3721"/>
            </a:avLst>
          </a:prstGeom>
          <a:solidFill>
            <a:srgbClr val="F2F6F8"/>
          </a:solidFill>
          <a:ln/>
        </p:spPr>
      </p:sp>
      <p:sp>
        <p:nvSpPr>
          <p:cNvPr id="15" name="Shape 13"/>
          <p:cNvSpPr/>
          <p:nvPr/>
        </p:nvSpPr>
        <p:spPr>
          <a:xfrm>
            <a:off x="6446520" y="1645920"/>
            <a:ext cx="457200" cy="457200"/>
          </a:xfrm>
          <a:prstGeom prst="ellipse">
            <a:avLst/>
          </a:prstGeom>
          <a:solidFill>
            <a:srgbClr val="065A82"/>
          </a:solidFill>
          <a:ln/>
        </p:spPr>
      </p:sp>
      <p:sp>
        <p:nvSpPr>
          <p:cNvPr id="16" name="Text 14"/>
          <p:cNvSpPr txBox="1"/>
          <p:nvPr/>
        </p:nvSpPr>
        <p:spPr>
          <a:xfrm>
            <a:off x="6446520" y="1645920"/>
            <a:ext cx="457200" cy="45720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7" name="Text 15"/>
          <p:cNvSpPr txBox="1"/>
          <p:nvPr/>
        </p:nvSpPr>
        <p:spPr>
          <a:xfrm>
            <a:off x="6400800" y="2240280"/>
            <a:ext cx="2240280" cy="320040"/>
          </a:xfrm>
          <a:prstGeom prst="rect">
            <a:avLst/>
          </a:prstGeom>
          <a:noFill/>
          <a:ln/>
        </p:spPr>
        <p:txBody>
          <a:bodyPr wrap="square" rtlCol="0" anchor="ctr"/>
          <a:lstStyle/>
          <a:p>
            <a:pPr marL="0" indent="0">
              <a:buNone/>
            </a:pPr>
            <a:r>
              <a:rPr lang="en-US" sz="1350" b="1" dirty="0">
                <a:solidFill>
                  <a:srgbClr val="1B2430"/>
                </a:solidFill>
                <a:latin typeface="Cambria" pitchFamily="34" charset="0"/>
                <a:ea typeface="Cambria" pitchFamily="34" charset="-122"/>
                <a:cs typeface="Cambria" pitchFamily="34" charset="-120"/>
              </a:rPr>
              <a:t>Recalcular</a:t>
            </a:r>
            <a:endParaRPr lang="en-US" sz="1350" dirty="0"/>
          </a:p>
        </p:txBody>
      </p:sp>
      <p:sp>
        <p:nvSpPr>
          <p:cNvPr id="18" name="Text 16"/>
          <p:cNvSpPr txBox="1"/>
          <p:nvPr/>
        </p:nvSpPr>
        <p:spPr>
          <a:xfrm>
            <a:off x="6400800" y="2560320"/>
            <a:ext cx="2240280" cy="777240"/>
          </a:xfrm>
          <a:prstGeom prst="rect">
            <a:avLst/>
          </a:prstGeom>
          <a:noFill/>
          <a:ln/>
        </p:spPr>
        <p:txBody>
          <a:bodyPr wrap="square" rtlCol="0" anchor="ctr"/>
          <a:lstStyle/>
          <a:p>
            <a:pPr marL="0" indent="0">
              <a:lnSpc>
                <a:spcPct val="115000"/>
              </a:lnSpc>
              <a:buNone/>
            </a:pPr>
            <a:r>
              <a:rPr lang="en-US" sz="1050" dirty="0">
                <a:solidFill>
                  <a:srgbClr val="5A6B75"/>
                </a:solidFill>
                <a:latin typeface="Calibri" pitchFamily="34" charset="0"/>
                <a:ea typeface="Calibri" pitchFamily="34" charset="-122"/>
                <a:cs typeface="Calibri" pitchFamily="34" charset="-120"/>
              </a:rPr>
              <a:t>Se recalculan los centroides como el promedio de las observaciones asignadas.</a:t>
            </a:r>
            <a:endParaRPr lang="en-US" sz="1050" dirty="0"/>
          </a:p>
        </p:txBody>
      </p:sp>
      <p:sp>
        <p:nvSpPr>
          <p:cNvPr id="19" name="Shape 17"/>
          <p:cNvSpPr/>
          <p:nvPr/>
        </p:nvSpPr>
        <p:spPr>
          <a:xfrm>
            <a:off x="9052560" y="1417320"/>
            <a:ext cx="2606040" cy="1965960"/>
          </a:xfrm>
          <a:prstGeom prst="roundRect">
            <a:avLst>
              <a:gd name="adj" fmla="val 3721"/>
            </a:avLst>
          </a:prstGeom>
          <a:solidFill>
            <a:srgbClr val="F2F6F8"/>
          </a:solidFill>
          <a:ln/>
        </p:spPr>
      </p:sp>
      <p:sp>
        <p:nvSpPr>
          <p:cNvPr id="20" name="Shape 18"/>
          <p:cNvSpPr/>
          <p:nvPr/>
        </p:nvSpPr>
        <p:spPr>
          <a:xfrm>
            <a:off x="9281160" y="1645920"/>
            <a:ext cx="457200" cy="457200"/>
          </a:xfrm>
          <a:prstGeom prst="ellipse">
            <a:avLst/>
          </a:prstGeom>
          <a:solidFill>
            <a:srgbClr val="065A82"/>
          </a:solidFill>
          <a:ln/>
        </p:spPr>
      </p:sp>
      <p:sp>
        <p:nvSpPr>
          <p:cNvPr id="21" name="Text 19"/>
          <p:cNvSpPr txBox="1"/>
          <p:nvPr/>
        </p:nvSpPr>
        <p:spPr>
          <a:xfrm>
            <a:off x="9281160" y="1645920"/>
            <a:ext cx="457200" cy="457200"/>
          </a:xfrm>
          <a:prstGeom prst="rect">
            <a:avLst/>
          </a:prstGeom>
          <a:noFill/>
          <a:ln/>
        </p:spPr>
        <p:txBody>
          <a:bodyPr wrap="square"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2" name="Text 20"/>
          <p:cNvSpPr txBox="1"/>
          <p:nvPr/>
        </p:nvSpPr>
        <p:spPr>
          <a:xfrm>
            <a:off x="9235440" y="2240280"/>
            <a:ext cx="2240280" cy="320040"/>
          </a:xfrm>
          <a:prstGeom prst="rect">
            <a:avLst/>
          </a:prstGeom>
          <a:noFill/>
          <a:ln/>
        </p:spPr>
        <p:txBody>
          <a:bodyPr wrap="square" rtlCol="0" anchor="ctr"/>
          <a:lstStyle/>
          <a:p>
            <a:pPr marL="0" indent="0">
              <a:buNone/>
            </a:pPr>
            <a:r>
              <a:rPr lang="en-US" sz="1350" b="1" dirty="0">
                <a:solidFill>
                  <a:srgbClr val="1B2430"/>
                </a:solidFill>
                <a:latin typeface="Cambria" pitchFamily="34" charset="0"/>
                <a:ea typeface="Cambria" pitchFamily="34" charset="-122"/>
                <a:cs typeface="Cambria" pitchFamily="34" charset="-120"/>
              </a:rPr>
              <a:t>Repetir</a:t>
            </a:r>
            <a:endParaRPr lang="en-US" sz="1350" dirty="0"/>
          </a:p>
        </p:txBody>
      </p:sp>
      <p:sp>
        <p:nvSpPr>
          <p:cNvPr id="23" name="Text 21"/>
          <p:cNvSpPr txBox="1"/>
          <p:nvPr/>
        </p:nvSpPr>
        <p:spPr>
          <a:xfrm>
            <a:off x="9235440" y="2560320"/>
            <a:ext cx="2240280" cy="777240"/>
          </a:xfrm>
          <a:prstGeom prst="rect">
            <a:avLst/>
          </a:prstGeom>
          <a:noFill/>
          <a:ln/>
        </p:spPr>
        <p:txBody>
          <a:bodyPr wrap="square" rtlCol="0" anchor="ctr"/>
          <a:lstStyle/>
          <a:p>
            <a:pPr marL="0" indent="0">
              <a:lnSpc>
                <a:spcPct val="115000"/>
              </a:lnSpc>
              <a:buNone/>
            </a:pPr>
            <a:r>
              <a:rPr lang="en-US" sz="1050" dirty="0">
                <a:solidFill>
                  <a:srgbClr val="5A6B75"/>
                </a:solidFill>
                <a:latin typeface="Calibri" pitchFamily="34" charset="0"/>
                <a:ea typeface="Calibri" pitchFamily="34" charset="-122"/>
                <a:cs typeface="Calibri" pitchFamily="34" charset="-120"/>
              </a:rPr>
              <a:t>Se repiten los pasos 2 y 3 hasta que las asignaciones dejan de cambiar.</a:t>
            </a:r>
            <a:endParaRPr lang="en-US" sz="1050" dirty="0"/>
          </a:p>
        </p:txBody>
      </p:sp>
      <p:sp>
        <p:nvSpPr>
          <p:cNvPr id="24" name="Shape 22"/>
          <p:cNvSpPr/>
          <p:nvPr/>
        </p:nvSpPr>
        <p:spPr>
          <a:xfrm>
            <a:off x="548640" y="3703320"/>
            <a:ext cx="11064240" cy="1051560"/>
          </a:xfrm>
          <a:prstGeom prst="roundRect">
            <a:avLst>
              <a:gd name="adj" fmla="val 6087"/>
            </a:avLst>
          </a:prstGeom>
          <a:solidFill>
            <a:srgbClr val="EAF1F5"/>
          </a:solidFill>
          <a:ln/>
        </p:spPr>
      </p:sp>
      <p:sp>
        <p:nvSpPr>
          <p:cNvPr id="25" name="Text 23"/>
          <p:cNvSpPr txBox="1"/>
          <p:nvPr/>
        </p:nvSpPr>
        <p:spPr>
          <a:xfrm>
            <a:off x="914400" y="3840480"/>
            <a:ext cx="10332720" cy="274320"/>
          </a:xfrm>
          <a:prstGeom prst="rect">
            <a:avLst/>
          </a:prstGeom>
          <a:noFill/>
          <a:ln/>
        </p:spPr>
        <p:txBody>
          <a:bodyPr wrap="square" rtlCol="0" anchor="ctr"/>
          <a:lstStyle/>
          <a:p>
            <a:pPr marL="0" indent="0">
              <a:buNone/>
            </a:pPr>
            <a:r>
              <a:rPr lang="en-US" sz="1300" b="1" dirty="0">
                <a:solidFill>
                  <a:srgbClr val="065A82"/>
                </a:solidFill>
                <a:latin typeface="Cambria" pitchFamily="34" charset="0"/>
                <a:ea typeface="Cambria" pitchFamily="34" charset="-122"/>
                <a:cs typeface="Cambria" pitchFamily="34" charset="-120"/>
              </a:rPr>
              <a:t>El criterio: similitud dentro del grupo, diferencia entre grupos</a:t>
            </a:r>
            <a:endParaRPr lang="en-US" sz="1300" dirty="0"/>
          </a:p>
        </p:txBody>
      </p:sp>
      <p:sp>
        <p:nvSpPr>
          <p:cNvPr id="26" name="Text 24"/>
          <p:cNvSpPr txBox="1"/>
          <p:nvPr/>
        </p:nvSpPr>
        <p:spPr>
          <a:xfrm>
            <a:off x="914400" y="4160520"/>
            <a:ext cx="10332720" cy="548640"/>
          </a:xfrm>
          <a:prstGeom prst="rect">
            <a:avLst/>
          </a:prstGeom>
          <a:noFill/>
          <a:ln/>
        </p:spPr>
        <p:txBody>
          <a:bodyPr wrap="square" rtlCol="0" anchor="ctr"/>
          <a:lstStyle/>
          <a:p>
            <a:pPr marL="0" indent="0">
              <a:lnSpc>
                <a:spcPct val="115000"/>
              </a:lnSpc>
              <a:buNone/>
            </a:pPr>
            <a:r>
              <a:rPr lang="en-US" sz="1200" dirty="0">
                <a:solidFill>
                  <a:srgbClr val="1B2430"/>
                </a:solidFill>
                <a:latin typeface="Calibri" pitchFamily="34" charset="0"/>
                <a:ea typeface="Calibri" pitchFamily="34" charset="-122"/>
                <a:cs typeface="Calibri" pitchFamily="34" charset="-120"/>
              </a:rPr>
              <a:t>K-means minimiza la distancia entre cada hogar y el centro de su grupo — busca que los hogares de un mismo cluster se parezcan entre sí, y que los clusters sean distintos entre ellos.</a:t>
            </a:r>
            <a:endParaRPr lang="en-US" sz="1200" dirty="0"/>
          </a:p>
        </p:txBody>
      </p:sp>
      <p:sp>
        <p:nvSpPr>
          <p:cNvPr id="27" name="Text 25"/>
          <p:cNvSpPr txBox="1"/>
          <p:nvPr/>
        </p:nvSpPr>
        <p:spPr>
          <a:xfrm>
            <a:off x="548640" y="4983480"/>
            <a:ext cx="10515600" cy="320040"/>
          </a:xfrm>
          <a:prstGeom prst="rect">
            <a:avLst/>
          </a:prstGeom>
          <a:noFill/>
          <a:ln/>
        </p:spPr>
        <p:txBody>
          <a:bodyPr wrap="square" rtlCol="0" anchor="ctr"/>
          <a:lstStyle/>
          <a:p>
            <a:pPr marL="0" indent="0">
              <a:buNone/>
            </a:pPr>
            <a:r>
              <a:rPr lang="en-US" sz="1350" b="1" dirty="0">
                <a:solidFill>
                  <a:srgbClr val="21295C"/>
                </a:solidFill>
                <a:latin typeface="Cambria" pitchFamily="34" charset="0"/>
                <a:ea typeface="Cambria" pitchFamily="34" charset="-122"/>
                <a:cs typeface="Cambria" pitchFamily="34" charset="-120"/>
              </a:rPr>
              <a:t>Segunda etapa del método (Caruso, Sosa-Escudero y Svarc, 2011)</a:t>
            </a:r>
            <a:endParaRPr lang="en-US" sz="1350" dirty="0"/>
          </a:p>
        </p:txBody>
      </p:sp>
      <p:sp>
        <p:nvSpPr>
          <p:cNvPr id="28" name="Text 26"/>
          <p:cNvSpPr txBox="1"/>
          <p:nvPr/>
        </p:nvSpPr>
        <p:spPr>
          <a:xfrm>
            <a:off x="548640" y="5349240"/>
            <a:ext cx="11064240" cy="868680"/>
          </a:xfrm>
          <a:prstGeom prst="rect">
            <a:avLst/>
          </a:prstGeom>
          <a:noFill/>
          <a:ln/>
        </p:spPr>
        <p:txBody>
          <a:bodyPr wrap="square" rtlCol="0" anchor="ctr"/>
          <a:lstStyle/>
          <a:p>
            <a:pPr marL="0" indent="0">
              <a:lnSpc>
                <a:spcPct val="120000"/>
              </a:lnSpc>
              <a:buNone/>
            </a:pPr>
            <a:r>
              <a:rPr lang="en-US" sz="1200" dirty="0">
                <a:solidFill>
                  <a:srgbClr val="1B2430"/>
                </a:solidFill>
                <a:latin typeface="Calibri" pitchFamily="34" charset="0"/>
                <a:ea typeface="Calibri" pitchFamily="34" charset="-122"/>
                <a:cs typeface="Calibri" pitchFamily="34" charset="-120"/>
              </a:rPr>
              <a:t>Una vez formados los clusters, se busca el subconjunto de variables externas al clustering que mejor reproduce esa clasificación. El paper original usa el algoritmo de Fraiman et al. (2008), computacionalmente muy costoso para esta muestra; lo aproximamos con importancia de variables de Random Forest.</a:t>
            </a:r>
            <a:endParaRPr lang="en-US" sz="1200" dirty="0"/>
          </a:p>
        </p:txBody>
      </p:sp>
      <p:sp>
        <p:nvSpPr>
          <p:cNvPr id="29" name="Text 27"/>
          <p:cNvSpPr txBox="1"/>
          <p:nvPr/>
        </p:nvSpPr>
        <p:spPr>
          <a:xfrm>
            <a:off x="548640" y="6492240"/>
            <a:ext cx="10058400" cy="274320"/>
          </a:xfrm>
          <a:prstGeom prst="rect">
            <a:avLst/>
          </a:prstGeom>
          <a:noFill/>
          <a:ln/>
        </p:spPr>
        <p:txBody>
          <a:bodyPr wrap="square" rtlCol="0" anchor="ctr"/>
          <a:lstStyle/>
          <a:p>
            <a:pPr marL="0" indent="0">
              <a:buNone/>
            </a:pPr>
            <a:r>
              <a:rPr lang="en-US" sz="850" dirty="0">
                <a:solidFill>
                  <a:srgbClr val="5A6B75"/>
                </a:solidFill>
                <a:latin typeface="Calibri" pitchFamily="34" charset="0"/>
                <a:ea typeface="Calibri" pitchFamily="34" charset="-122"/>
                <a:cs typeface="Calibri" pitchFamily="34" charset="-120"/>
              </a:rPr>
              <a:t>Aplicación Final · Clustering (K-means) sobre CASEN 2024 · github.com/santimsoler/APLICACIONFINAL_PROGRAMACION_UBA</a:t>
            </a:r>
            <a:endParaRPr lang="en-US" sz="850" dirty="0"/>
          </a:p>
        </p:txBody>
      </p:sp>
      <p:sp>
        <p:nvSpPr>
          <p:cNvPr id="30" name="Text 28"/>
          <p:cNvSpPr txBox="1"/>
          <p:nvPr/>
        </p:nvSpPr>
        <p:spPr>
          <a:xfrm>
            <a:off x="11521440" y="6492240"/>
            <a:ext cx="365760" cy="274320"/>
          </a:xfrm>
          <a:prstGeom prst="rect">
            <a:avLst/>
          </a:prstGeom>
          <a:noFill/>
          <a:ln/>
        </p:spPr>
        <p:txBody>
          <a:bodyPr wrap="square"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7432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VENTAJAS Y DESVENTAJAS</a:t>
            </a:r>
            <a:endParaRPr lang="en-US" sz="1200" dirty="0"/>
          </a:p>
        </p:txBody>
      </p:sp>
      <p:sp>
        <p:nvSpPr>
          <p:cNvPr id="3" name="Text 1"/>
          <p:cNvSpPr txBox="1"/>
          <p:nvPr/>
        </p:nvSpPr>
        <p:spPr>
          <a:xfrm>
            <a:off x="548640" y="658368"/>
            <a:ext cx="1078992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Por qué elegimos clustering</a:t>
            </a:r>
            <a:endParaRPr lang="en-US" sz="2600" dirty="0"/>
          </a:p>
        </p:txBody>
      </p:sp>
      <p:sp>
        <p:nvSpPr>
          <p:cNvPr id="4" name="Shape 2"/>
          <p:cNvSpPr/>
          <p:nvPr/>
        </p:nvSpPr>
        <p:spPr>
          <a:xfrm>
            <a:off x="548640" y="1463040"/>
            <a:ext cx="5394960" cy="4572000"/>
          </a:xfrm>
          <a:prstGeom prst="roundRect">
            <a:avLst>
              <a:gd name="adj" fmla="val 1600"/>
            </a:avLst>
          </a:prstGeom>
          <a:solidFill>
            <a:srgbClr val="F2F6F8"/>
          </a:solidFill>
          <a:ln/>
        </p:spPr>
      </p:sp>
      <p:sp>
        <p:nvSpPr>
          <p:cNvPr id="5" name="Shape 3"/>
          <p:cNvSpPr/>
          <p:nvPr/>
        </p:nvSpPr>
        <p:spPr>
          <a:xfrm>
            <a:off x="548640" y="1463040"/>
            <a:ext cx="5394960" cy="502920"/>
          </a:xfrm>
          <a:prstGeom prst="rect">
            <a:avLst/>
          </a:prstGeom>
          <a:solidFill>
            <a:srgbClr val="065A82"/>
          </a:solidFill>
          <a:ln/>
        </p:spPr>
      </p:sp>
      <p:sp>
        <p:nvSpPr>
          <p:cNvPr id="6" name="Text 4"/>
          <p:cNvSpPr txBox="1"/>
          <p:nvPr/>
        </p:nvSpPr>
        <p:spPr>
          <a:xfrm>
            <a:off x="777240" y="1463040"/>
            <a:ext cx="4937760" cy="50292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Ventajas</a:t>
            </a:r>
            <a:endParaRPr lang="en-US" sz="1500" dirty="0"/>
          </a:p>
        </p:txBody>
      </p:sp>
      <p:sp>
        <p:nvSpPr>
          <p:cNvPr id="7" name="Text 5"/>
          <p:cNvSpPr txBox="1"/>
          <p:nvPr/>
        </p:nvSpPr>
        <p:spPr>
          <a:xfrm>
            <a:off x="822960" y="2148840"/>
            <a:ext cx="4846320" cy="3703320"/>
          </a:xfrm>
          <a:prstGeom prst="rect">
            <a:avLst/>
          </a:prstGeom>
          <a:noFill/>
          <a:ln/>
        </p:spPr>
        <p:txBody>
          <a:bodyPr wrap="square" rtlCol="0" anchor="ctr"/>
          <a:lstStyle/>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No impone un umbral de severidad a priori — lo encuentra a partir de los propios datos</a:t>
            </a:r>
            <a:endParaRPr lang="en-US" sz="1200" dirty="0"/>
          </a:p>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Permite trabajar sobre variables que no forman parte del índice oficial de pobreza (redes, inseguridad alimentaria)</a:t>
            </a:r>
            <a:endParaRPr lang="en-US" sz="1200" dirty="0"/>
          </a:p>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Encaja directamente con </a:t>
            </a:r>
            <a:r>
              <a:rPr lang="en-US" sz="1200" dirty="0" smtClean="0">
                <a:solidFill>
                  <a:srgbClr val="1B2430"/>
                </a:solidFill>
                <a:latin typeface="Calibri" pitchFamily="34" charset="0"/>
                <a:ea typeface="Calibri" pitchFamily="34" charset="-122"/>
                <a:cs typeface="Calibri" pitchFamily="34" charset="-120"/>
              </a:rPr>
              <a:t>lo </a:t>
            </a:r>
            <a:r>
              <a:rPr lang="en-US" sz="1200" dirty="0" err="1" smtClean="0">
                <a:solidFill>
                  <a:srgbClr val="1B2430"/>
                </a:solidFill>
                <a:latin typeface="Calibri" pitchFamily="34" charset="0"/>
                <a:ea typeface="Calibri" pitchFamily="34" charset="-122"/>
                <a:cs typeface="Calibri" pitchFamily="34" charset="-120"/>
              </a:rPr>
              <a:t>planteado</a:t>
            </a:r>
            <a:r>
              <a:rPr lang="en-US" sz="1200" dirty="0" smtClean="0">
                <a:solidFill>
                  <a:srgbClr val="1B2430"/>
                </a:solidFill>
                <a:latin typeface="Calibri" pitchFamily="34" charset="0"/>
                <a:ea typeface="Calibri" pitchFamily="34" charset="-122"/>
                <a:cs typeface="Calibri" pitchFamily="34" charset="-120"/>
              </a:rPr>
              <a:t> </a:t>
            </a:r>
            <a:r>
              <a:rPr lang="en-US" sz="1200" dirty="0" err="1" smtClean="0">
                <a:solidFill>
                  <a:srgbClr val="1B2430"/>
                </a:solidFill>
                <a:latin typeface="Calibri" pitchFamily="34" charset="0"/>
                <a:ea typeface="Calibri" pitchFamily="34" charset="-122"/>
                <a:cs typeface="Calibri" pitchFamily="34" charset="-120"/>
              </a:rPr>
              <a:t>en</a:t>
            </a:r>
            <a:r>
              <a:rPr lang="en-US" sz="1200" dirty="0" smtClean="0">
                <a:solidFill>
                  <a:srgbClr val="1B2430"/>
                </a:solidFill>
                <a:latin typeface="Calibri" pitchFamily="34" charset="0"/>
                <a:ea typeface="Calibri" pitchFamily="34" charset="-122"/>
                <a:cs typeface="Calibri" pitchFamily="34" charset="-120"/>
              </a:rPr>
              <a:t> la </a:t>
            </a:r>
            <a:r>
              <a:rPr lang="en-US" sz="1200" dirty="0" err="1" smtClean="0">
                <a:solidFill>
                  <a:srgbClr val="1B2430"/>
                </a:solidFill>
                <a:latin typeface="Calibri" pitchFamily="34" charset="0"/>
                <a:ea typeface="Calibri" pitchFamily="34" charset="-122"/>
                <a:cs typeface="Calibri" pitchFamily="34" charset="-120"/>
              </a:rPr>
              <a:t>presentación</a:t>
            </a:r>
            <a:r>
              <a:rPr lang="en-US" sz="1200" dirty="0" smtClean="0">
                <a:solidFill>
                  <a:srgbClr val="1B2430"/>
                </a:solidFill>
                <a:latin typeface="Calibri" pitchFamily="34" charset="0"/>
                <a:ea typeface="Calibri" pitchFamily="34" charset="-122"/>
                <a:cs typeface="Calibri" pitchFamily="34" charset="-120"/>
              </a:rPr>
              <a:t> del </a:t>
            </a:r>
            <a:r>
              <a:rPr lang="en-US" sz="1200" dirty="0" err="1" smtClean="0">
                <a:solidFill>
                  <a:srgbClr val="1B2430"/>
                </a:solidFill>
                <a:latin typeface="Calibri" pitchFamily="34" charset="0"/>
                <a:ea typeface="Calibri" pitchFamily="34" charset="-122"/>
                <a:cs typeface="Calibri" pitchFamily="34" charset="-120"/>
              </a:rPr>
              <a:t>proyecto</a:t>
            </a:r>
            <a:r>
              <a:rPr lang="en-US" sz="1200" dirty="0" smtClean="0">
                <a:solidFill>
                  <a:srgbClr val="1B2430"/>
                </a:solidFill>
                <a:latin typeface="Calibri" pitchFamily="34" charset="0"/>
                <a:ea typeface="Calibri" pitchFamily="34" charset="-122"/>
                <a:cs typeface="Calibri" pitchFamily="34" charset="-120"/>
              </a:rPr>
              <a:t>: </a:t>
            </a:r>
            <a:r>
              <a:rPr lang="en-US" sz="1200" dirty="0">
                <a:solidFill>
                  <a:srgbClr val="1B2430"/>
                </a:solidFill>
                <a:latin typeface="Calibri" pitchFamily="34" charset="0"/>
                <a:ea typeface="Calibri" pitchFamily="34" charset="-122"/>
                <a:cs typeface="Calibri" pitchFamily="34" charset="-120"/>
              </a:rPr>
              <a:t>encontrar 'los más pobres dentro de los pobres'</a:t>
            </a:r>
            <a:endParaRPr lang="en-US" sz="1200" dirty="0"/>
          </a:p>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El número de clusters se puede elegir con criterios objetivos (inercia, silhouette)</a:t>
            </a:r>
            <a:endParaRPr lang="en-US" sz="1200" dirty="0"/>
          </a:p>
        </p:txBody>
      </p:sp>
      <p:sp>
        <p:nvSpPr>
          <p:cNvPr id="8" name="Shape 6"/>
          <p:cNvSpPr/>
          <p:nvPr/>
        </p:nvSpPr>
        <p:spPr>
          <a:xfrm>
            <a:off x="6217920" y="1463040"/>
            <a:ext cx="5394960" cy="4572000"/>
          </a:xfrm>
          <a:prstGeom prst="roundRect">
            <a:avLst>
              <a:gd name="adj" fmla="val 1600"/>
            </a:avLst>
          </a:prstGeom>
          <a:solidFill>
            <a:srgbClr val="F2F6F8"/>
          </a:solidFill>
          <a:ln/>
        </p:spPr>
      </p:sp>
      <p:sp>
        <p:nvSpPr>
          <p:cNvPr id="9" name="Shape 7"/>
          <p:cNvSpPr/>
          <p:nvPr/>
        </p:nvSpPr>
        <p:spPr>
          <a:xfrm>
            <a:off x="6217920" y="1463040"/>
            <a:ext cx="5394960" cy="502920"/>
          </a:xfrm>
          <a:prstGeom prst="rect">
            <a:avLst/>
          </a:prstGeom>
          <a:solidFill>
            <a:srgbClr val="21295C"/>
          </a:solidFill>
          <a:ln/>
        </p:spPr>
      </p:sp>
      <p:sp>
        <p:nvSpPr>
          <p:cNvPr id="10" name="Text 8"/>
          <p:cNvSpPr txBox="1"/>
          <p:nvPr/>
        </p:nvSpPr>
        <p:spPr>
          <a:xfrm>
            <a:off x="6446520" y="1463040"/>
            <a:ext cx="4937760" cy="50292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Desventajas</a:t>
            </a:r>
            <a:endParaRPr lang="en-US" sz="1500" dirty="0"/>
          </a:p>
        </p:txBody>
      </p:sp>
      <p:sp>
        <p:nvSpPr>
          <p:cNvPr id="11" name="Text 9"/>
          <p:cNvSpPr txBox="1"/>
          <p:nvPr/>
        </p:nvSpPr>
        <p:spPr>
          <a:xfrm>
            <a:off x="6492240" y="2148840"/>
            <a:ext cx="4846320" cy="3703320"/>
          </a:xfrm>
          <a:prstGeom prst="rect">
            <a:avLst/>
          </a:prstGeom>
          <a:noFill/>
          <a:ln/>
        </p:spPr>
        <p:txBody>
          <a:bodyPr wrap="square" rtlCol="0" anchor="ctr"/>
          <a:lstStyle/>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No garantiza que los grupos encontrados tengan sentido económico — hay que interpretarlos después</a:t>
            </a:r>
            <a:endParaRPr lang="en-US" sz="1200" dirty="0"/>
          </a:p>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Sensible a la escala de las variables (requiere estandarizar) y a los valores iniciales de los centroides</a:t>
            </a:r>
            <a:endParaRPr lang="en-US" sz="1200" dirty="0"/>
          </a:p>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El número de clusters no siempre es evidente — el silhouette y el codo no siempre coinciden con claridad</a:t>
            </a:r>
            <a:endParaRPr lang="en-US" sz="1200" dirty="0"/>
          </a:p>
          <a:p>
            <a:pPr marL="342900" indent="-342900">
              <a:lnSpc>
                <a:spcPct val="120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Por sí solo no dice qué variables explican los grupos — para eso necesitamos un paso adicional (Random Forest) que no es parte del clustering en sí</a:t>
            </a:r>
            <a:endParaRPr lang="en-US" sz="1200" dirty="0"/>
          </a:p>
        </p:txBody>
      </p:sp>
      <p:sp>
        <p:nvSpPr>
          <p:cNvPr id="12" name="Text 10"/>
          <p:cNvSpPr txBox="1"/>
          <p:nvPr/>
        </p:nvSpPr>
        <p:spPr>
          <a:xfrm>
            <a:off x="548640" y="6492240"/>
            <a:ext cx="10058400" cy="274320"/>
          </a:xfrm>
          <a:prstGeom prst="rect">
            <a:avLst/>
          </a:prstGeom>
          <a:noFill/>
          <a:ln/>
        </p:spPr>
        <p:txBody>
          <a:bodyPr wrap="square" rtlCol="0" anchor="ctr"/>
          <a:lstStyle/>
          <a:p>
            <a:pPr marL="0" indent="0">
              <a:buNone/>
            </a:pPr>
            <a:r>
              <a:rPr lang="en-US" sz="850" dirty="0">
                <a:solidFill>
                  <a:srgbClr val="5A6B75"/>
                </a:solidFill>
                <a:latin typeface="Calibri" pitchFamily="34" charset="0"/>
                <a:ea typeface="Calibri" pitchFamily="34" charset="-122"/>
                <a:cs typeface="Calibri" pitchFamily="34" charset="-120"/>
              </a:rPr>
              <a:t>Aplicación Final · Clustering (K-means) sobre CASEN 2024 · github.com/santimsoler/APLICACIONFINAL_PROGRAMACION_UBA</a:t>
            </a:r>
            <a:endParaRPr lang="en-US" sz="850" dirty="0"/>
          </a:p>
        </p:txBody>
      </p:sp>
      <p:sp>
        <p:nvSpPr>
          <p:cNvPr id="13" name="Text 11"/>
          <p:cNvSpPr txBox="1"/>
          <p:nvPr/>
        </p:nvSpPr>
        <p:spPr>
          <a:xfrm>
            <a:off x="11521440" y="6492240"/>
            <a:ext cx="365760" cy="274320"/>
          </a:xfrm>
          <a:prstGeom prst="rect">
            <a:avLst/>
          </a:prstGeom>
          <a:noFill/>
          <a:ln/>
        </p:spPr>
        <p:txBody>
          <a:bodyPr wrap="square"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7432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APLICACIÓN — PASO 1</a:t>
            </a:r>
            <a:endParaRPr lang="en-US" sz="1200" dirty="0"/>
          </a:p>
        </p:txBody>
      </p:sp>
      <p:sp>
        <p:nvSpPr>
          <p:cNvPr id="3" name="Text 1"/>
          <p:cNvSpPr txBox="1"/>
          <p:nvPr/>
        </p:nvSpPr>
        <p:spPr>
          <a:xfrm>
            <a:off x="548640" y="658368"/>
            <a:ext cx="1078992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Elegir el número de clusters</a:t>
            </a:r>
            <a:endParaRPr lang="en-US" sz="2600" dirty="0"/>
          </a:p>
        </p:txBody>
      </p:sp>
      <p:sp>
        <p:nvSpPr>
          <p:cNvPr id="4" name="Text 2"/>
          <p:cNvSpPr txBox="1"/>
          <p:nvPr/>
        </p:nvSpPr>
        <p:spPr>
          <a:xfrm>
            <a:off x="548640" y="1188720"/>
            <a:ext cx="10972800" cy="365760"/>
          </a:xfrm>
          <a:prstGeom prst="rect">
            <a:avLst/>
          </a:prstGeom>
          <a:noFill/>
          <a:ln/>
        </p:spPr>
        <p:txBody>
          <a:bodyPr wrap="square" rtlCol="0" anchor="ctr"/>
          <a:lstStyle/>
          <a:p>
            <a:pPr marL="0" indent="0">
              <a:buNone/>
            </a:pPr>
            <a:r>
              <a:rPr lang="en-US" sz="1250" dirty="0">
                <a:solidFill>
                  <a:srgbClr val="5A6B75"/>
                </a:solidFill>
                <a:latin typeface="Calibri" pitchFamily="34" charset="0"/>
                <a:ea typeface="Calibri" pitchFamily="34" charset="-122"/>
                <a:cs typeface="Calibri" pitchFamily="34" charset="-120"/>
              </a:rPr>
              <a:t>Filtramos los 10.421 hogares pobres y probamos k=2 a 8 sobre las variables de redes de apoyo e inseguridad alimentaria.</a:t>
            </a:r>
            <a:endParaRPr lang="en-US" sz="1250" dirty="0"/>
          </a:p>
        </p:txBody>
      </p:sp>
      <p:graphicFrame>
        <p:nvGraphicFramePr>
          <p:cNvPr id="5" name="Chart 0"/>
          <p:cNvGraphicFramePr/>
          <p:nvPr/>
        </p:nvGraphicFramePr>
        <p:xfrm>
          <a:off x="548640" y="1691640"/>
          <a:ext cx="5486400" cy="4297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6172200" y="1691640"/>
          <a:ext cx="5486400" cy="429768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48640" y="5989320"/>
            <a:ext cx="11064240" cy="438912"/>
          </a:xfrm>
          <a:prstGeom prst="roundRect">
            <a:avLst>
              <a:gd name="adj" fmla="val 12500"/>
            </a:avLst>
          </a:prstGeom>
          <a:solidFill>
            <a:srgbClr val="F2F6F8"/>
          </a:solidFill>
          <a:ln/>
        </p:spPr>
      </p:sp>
      <p:sp>
        <p:nvSpPr>
          <p:cNvPr id="8" name="Text 4"/>
          <p:cNvSpPr txBox="1"/>
          <p:nvPr/>
        </p:nvSpPr>
        <p:spPr>
          <a:xfrm>
            <a:off x="822960" y="5989320"/>
            <a:ext cx="10515600" cy="438912"/>
          </a:xfrm>
          <a:prstGeom prst="rect">
            <a:avLst/>
          </a:prstGeom>
          <a:noFill/>
          <a:ln/>
        </p:spPr>
        <p:txBody>
          <a:bodyPr wrap="square" rtlCol="0" anchor="ctr"/>
          <a:lstStyle/>
          <a:p>
            <a:pPr marL="0" indent="0">
              <a:buNone/>
            </a:pPr>
            <a:r>
              <a:rPr lang="en-US" sz="1050" dirty="0">
                <a:solidFill>
                  <a:srgbClr val="1B2430"/>
                </a:solidFill>
                <a:latin typeface="Calibri" pitchFamily="34" charset="0"/>
                <a:ea typeface="Calibri" pitchFamily="34" charset="-122"/>
                <a:cs typeface="Calibri" pitchFamily="34" charset="-120"/>
              </a:rPr>
              <a:t>La inercia baja de forma pareja, sin un quiebre marcado. El silhouette es más alto en k=2, pero k=3 ofrece más matiz manteniendo una separación razonable — optamos por k=3.</a:t>
            </a:r>
            <a:endParaRPr lang="en-US" sz="1050" dirty="0"/>
          </a:p>
        </p:txBody>
      </p:sp>
      <p:sp>
        <p:nvSpPr>
          <p:cNvPr id="9" name="Text 5"/>
          <p:cNvSpPr txBox="1"/>
          <p:nvPr/>
        </p:nvSpPr>
        <p:spPr>
          <a:xfrm>
            <a:off x="548640" y="6492240"/>
            <a:ext cx="10058400" cy="274320"/>
          </a:xfrm>
          <a:prstGeom prst="rect">
            <a:avLst/>
          </a:prstGeom>
          <a:noFill/>
          <a:ln/>
        </p:spPr>
        <p:txBody>
          <a:bodyPr wrap="square" rtlCol="0" anchor="ctr"/>
          <a:lstStyle/>
          <a:p>
            <a:pPr marL="0" indent="0">
              <a:buNone/>
            </a:pPr>
            <a:r>
              <a:rPr lang="en-US" sz="850" dirty="0">
                <a:solidFill>
                  <a:srgbClr val="5A6B75"/>
                </a:solidFill>
                <a:latin typeface="Calibri" pitchFamily="34" charset="0"/>
                <a:ea typeface="Calibri" pitchFamily="34" charset="-122"/>
                <a:cs typeface="Calibri" pitchFamily="34" charset="-120"/>
              </a:rPr>
              <a:t>Aplicación Final · Clustering (K-means) sobre CASEN 2024 · github.com/santimsoler/APLICACIONFINAL_PROGRAMACION_UBA</a:t>
            </a:r>
            <a:endParaRPr lang="en-US" sz="850" dirty="0"/>
          </a:p>
        </p:txBody>
      </p:sp>
      <p:sp>
        <p:nvSpPr>
          <p:cNvPr id="10" name="Text 6"/>
          <p:cNvSpPr txBox="1"/>
          <p:nvPr/>
        </p:nvSpPr>
        <p:spPr>
          <a:xfrm>
            <a:off x="11521440" y="6492240"/>
            <a:ext cx="365760" cy="274320"/>
          </a:xfrm>
          <a:prstGeom prst="rect">
            <a:avLst/>
          </a:prstGeom>
          <a:noFill/>
          <a:ln/>
        </p:spPr>
        <p:txBody>
          <a:bodyPr wrap="square"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789920" cy="64008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Tres grupos de severidad dentro de los pobres</a:t>
            </a:r>
            <a:endParaRPr lang="en-US" sz="2600" dirty="0"/>
          </a:p>
        </p:txBody>
      </p:sp>
      <p:graphicFrame>
        <p:nvGraphicFramePr>
          <p:cNvPr id="3" name="Chart 0"/>
          <p:cNvGraphicFramePr/>
          <p:nvPr/>
        </p:nvGraphicFramePr>
        <p:xfrm>
          <a:off x="548640" y="1371600"/>
          <a:ext cx="56692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492240" y="1371600"/>
            <a:ext cx="5120640" cy="4754880"/>
          </a:xfrm>
          <a:prstGeom prst="roundRect">
            <a:avLst>
              <a:gd name="adj" fmla="val 1538"/>
            </a:avLst>
          </a:prstGeom>
          <a:solidFill>
            <a:srgbClr val="1B2B57"/>
          </a:solidFill>
          <a:ln/>
        </p:spPr>
      </p:sp>
      <p:sp>
        <p:nvSpPr>
          <p:cNvPr id="5" name="Text 2"/>
          <p:cNvSpPr txBox="1"/>
          <p:nvPr/>
        </p:nvSpPr>
        <p:spPr>
          <a:xfrm>
            <a:off x="6766560" y="1554480"/>
            <a:ext cx="4572000" cy="365760"/>
          </a:xfrm>
          <a:prstGeom prst="rect">
            <a:avLst/>
          </a:prstGeom>
          <a:noFill/>
          <a:ln/>
        </p:spPr>
        <p:txBody>
          <a:bodyPr wrap="square" rtlCol="0" anchor="ctr"/>
          <a:lstStyle/>
          <a:p>
            <a:pPr marL="0" indent="0">
              <a:buNone/>
            </a:pPr>
            <a:r>
              <a:rPr lang="en-US" sz="1500" b="1" dirty="0">
                <a:solidFill>
                  <a:srgbClr val="E8A36B"/>
                </a:solidFill>
                <a:latin typeface="Cambria" pitchFamily="34" charset="0"/>
                <a:ea typeface="Cambria" pitchFamily="34" charset="-122"/>
                <a:cs typeface="Cambria" pitchFamily="34" charset="-120"/>
              </a:rPr>
              <a:t>Cluster 1 — el más severo (26,4%)</a:t>
            </a:r>
            <a:endParaRPr lang="en-US" sz="1500" dirty="0"/>
          </a:p>
        </p:txBody>
      </p:sp>
      <p:sp>
        <p:nvSpPr>
          <p:cNvPr id="6" name="Text 3"/>
          <p:cNvSpPr txBox="1"/>
          <p:nvPr/>
        </p:nvSpPr>
        <p:spPr>
          <a:xfrm>
            <a:off x="6766560" y="2057400"/>
            <a:ext cx="4572000" cy="1920240"/>
          </a:xfrm>
          <a:prstGeom prst="rect">
            <a:avLst/>
          </a:prstGeom>
          <a:noFill/>
          <a:ln/>
        </p:spPr>
        <p:txBody>
          <a:bodyPr wrap="square" rtlCol="0" anchor="ctr"/>
          <a:lstStyle/>
          <a:p>
            <a:pPr marL="342900" indent="-342900">
              <a:lnSpc>
                <a:spcPct val="125000"/>
              </a:lnSpc>
              <a:spcAft>
                <a:spcPts val="800"/>
              </a:spcAft>
              <a:buSzPct val="100000"/>
              <a:buChar char="•"/>
            </a:pPr>
            <a:r>
              <a:rPr lang="en-US" sz="1200" dirty="0">
                <a:solidFill>
                  <a:srgbClr val="E4ECF3"/>
                </a:solidFill>
                <a:latin typeface="Calibri" pitchFamily="34" charset="0"/>
                <a:ea typeface="Calibri" pitchFamily="34" charset="-122"/>
                <a:cs typeface="Calibri" pitchFamily="34" charset="-120"/>
              </a:rPr>
              <a:t>Menores niveles de red de apoyo (menos hogares que cuenten con ayuda ante una emergencia)</a:t>
            </a:r>
            <a:endParaRPr lang="en-US" sz="1200" dirty="0"/>
          </a:p>
          <a:p>
            <a:pPr marL="342900" indent="-342900">
              <a:lnSpc>
                <a:spcPct val="125000"/>
              </a:lnSpc>
              <a:spcAft>
                <a:spcPts val="800"/>
              </a:spcAft>
              <a:buSzPct val="100000"/>
              <a:buChar char="•"/>
            </a:pPr>
            <a:r>
              <a:rPr lang="en-US" sz="1200" dirty="0">
                <a:solidFill>
                  <a:srgbClr val="E4ECF3"/>
                </a:solidFill>
                <a:latin typeface="Calibri" pitchFamily="34" charset="0"/>
                <a:ea typeface="Calibri" pitchFamily="34" charset="-122"/>
                <a:cs typeface="Calibri" pitchFamily="34" charset="-120"/>
              </a:rPr>
              <a:t>Mayor inseguridad alimentaria: más hogares que reportaron preocupación por no tener alimentos o pasar hambre</a:t>
            </a:r>
            <a:endParaRPr lang="en-US" sz="1200" dirty="0"/>
          </a:p>
          <a:p>
            <a:pPr marL="342900" indent="-342900">
              <a:lnSpc>
                <a:spcPct val="125000"/>
              </a:lnSpc>
              <a:spcAft>
                <a:spcPts val="800"/>
              </a:spcAft>
              <a:buSzPct val="100000"/>
              <a:buChar char="•"/>
            </a:pPr>
            <a:r>
              <a:rPr lang="en-US" sz="1200" dirty="0">
                <a:solidFill>
                  <a:srgbClr val="E4ECF3"/>
                </a:solidFill>
                <a:latin typeface="Calibri" pitchFamily="34" charset="0"/>
                <a:ea typeface="Calibri" pitchFamily="34" charset="-122"/>
                <a:cs typeface="Calibri" pitchFamily="34" charset="-120"/>
              </a:rPr>
              <a:t>Menor tenencia de vehículos (activo del hogar)</a:t>
            </a:r>
            <a:endParaRPr lang="en-US" sz="1200" dirty="0"/>
          </a:p>
        </p:txBody>
      </p:sp>
      <p:sp>
        <p:nvSpPr>
          <p:cNvPr id="7" name="Shape 4"/>
          <p:cNvSpPr/>
          <p:nvPr/>
        </p:nvSpPr>
        <p:spPr>
          <a:xfrm>
            <a:off x="6766560" y="4160520"/>
            <a:ext cx="4114800" cy="0"/>
          </a:xfrm>
          <a:prstGeom prst="line">
            <a:avLst/>
          </a:prstGeom>
          <a:noFill/>
          <a:ln w="12700">
            <a:solidFill>
              <a:srgbClr val="3E6E8E"/>
            </a:solidFill>
            <a:prstDash val="solid"/>
          </a:ln>
        </p:spPr>
      </p:sp>
      <p:sp>
        <p:nvSpPr>
          <p:cNvPr id="8" name="Text 5"/>
          <p:cNvSpPr txBox="1"/>
          <p:nvPr/>
        </p:nvSpPr>
        <p:spPr>
          <a:xfrm>
            <a:off x="6766560" y="4343400"/>
            <a:ext cx="4572000" cy="1645920"/>
          </a:xfrm>
          <a:prstGeom prst="rect">
            <a:avLst/>
          </a:prstGeom>
          <a:noFill/>
          <a:ln/>
        </p:spPr>
        <p:txBody>
          <a:bodyPr wrap="square" rtlCol="0" anchor="ctr"/>
          <a:lstStyle/>
          <a:p>
            <a:pPr marL="0" indent="0">
              <a:lnSpc>
                <a:spcPct val="125000"/>
              </a:lnSpc>
              <a:buNone/>
            </a:pPr>
            <a:r>
              <a:rPr lang="en-US" sz="1150" i="1" dirty="0">
                <a:solidFill>
                  <a:srgbClr val="9FB4C8"/>
                </a:solidFill>
                <a:latin typeface="Calibri" pitchFamily="34" charset="0"/>
                <a:ea typeface="Calibri" pitchFamily="34" charset="-122"/>
                <a:cs typeface="Calibri" pitchFamily="34" charset="-120"/>
              </a:rPr>
              <a:t>Es un subgrupo dentro de los pobres, no una nueva categoría de pobreza — su identificación permite priorizar a quién dirigir primero una política de asistencia.</a:t>
            </a:r>
            <a:endParaRPr lang="en-US" sz="1150" dirty="0"/>
          </a:p>
        </p:txBody>
      </p:sp>
      <p:sp>
        <p:nvSpPr>
          <p:cNvPr id="9" name="Text 6"/>
          <p:cNvSpPr txBox="1"/>
          <p:nvPr/>
        </p:nvSpPr>
        <p:spPr>
          <a:xfrm>
            <a:off x="548640" y="6492240"/>
            <a:ext cx="10058400" cy="274320"/>
          </a:xfrm>
          <a:prstGeom prst="rect">
            <a:avLst/>
          </a:prstGeom>
          <a:noFill/>
          <a:ln/>
        </p:spPr>
        <p:txBody>
          <a:bodyPr wrap="square" rtlCol="0" anchor="ctr"/>
          <a:lstStyle/>
          <a:p>
            <a:pPr marL="0" indent="0">
              <a:buNone/>
            </a:pPr>
            <a:r>
              <a:rPr lang="en-US" sz="850" dirty="0">
                <a:solidFill>
                  <a:srgbClr val="9FB4C8"/>
                </a:solidFill>
                <a:latin typeface="Calibri" pitchFamily="34" charset="0"/>
                <a:ea typeface="Calibri" pitchFamily="34" charset="-122"/>
                <a:cs typeface="Calibri" pitchFamily="34" charset="-120"/>
              </a:rPr>
              <a:t>Aplicación Final · Clustering (K-means) sobre CASEN 2024 · github.com/santimsoler/APLICACIONFINAL_PROGRAMACION_UBA</a:t>
            </a:r>
            <a:endParaRPr lang="en-US" sz="850" dirty="0"/>
          </a:p>
        </p:txBody>
      </p:sp>
      <p:sp>
        <p:nvSpPr>
          <p:cNvPr id="10" name="Text 7"/>
          <p:cNvSpPr txBox="1"/>
          <p:nvPr/>
        </p:nvSpPr>
        <p:spPr>
          <a:xfrm>
            <a:off x="11521440" y="6492240"/>
            <a:ext cx="365760" cy="274320"/>
          </a:xfrm>
          <a:prstGeom prst="rect">
            <a:avLst/>
          </a:prstGeom>
          <a:noFill/>
          <a:ln/>
        </p:spPr>
        <p:txBody>
          <a:bodyPr wrap="square" rtlCol="0" anchor="ctr"/>
          <a:lstStyle/>
          <a:p>
            <a:pPr marL="0" indent="0" algn="r">
              <a:buNone/>
            </a:pPr>
            <a:r>
              <a:rPr lang="en-US" sz="900" dirty="0">
                <a:solidFill>
                  <a:srgbClr val="9FB4C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7432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APLICACIÓN — PASO 2: SELECCIÓN DE VARIABLES CON RANDOM FOREST</a:t>
            </a:r>
            <a:endParaRPr lang="en-US" sz="1200" dirty="0"/>
          </a:p>
        </p:txBody>
      </p:sp>
      <p:sp>
        <p:nvSpPr>
          <p:cNvPr id="3" name="Text 1"/>
          <p:cNvSpPr txBox="1"/>
          <p:nvPr/>
        </p:nvSpPr>
        <p:spPr>
          <a:xfrm>
            <a:off x="548640" y="658368"/>
            <a:ext cx="1078992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¿Qué explica esa segmentación desde afuera?</a:t>
            </a:r>
            <a:endParaRPr lang="en-US" sz="2600" dirty="0"/>
          </a:p>
        </p:txBody>
      </p:sp>
      <p:sp>
        <p:nvSpPr>
          <p:cNvPr id="4" name="Text 2"/>
          <p:cNvSpPr txBox="1"/>
          <p:nvPr/>
        </p:nvSpPr>
        <p:spPr>
          <a:xfrm>
            <a:off x="548640" y="1188720"/>
            <a:ext cx="10972800" cy="502920"/>
          </a:xfrm>
          <a:prstGeom prst="rect">
            <a:avLst/>
          </a:prstGeom>
          <a:noFill/>
          <a:ln/>
        </p:spPr>
        <p:txBody>
          <a:bodyPr wrap="square" rtlCol="0" anchor="ctr"/>
          <a:lstStyle/>
          <a:p>
            <a:pPr marL="0" indent="0">
              <a:lnSpc>
                <a:spcPct val="115000"/>
              </a:lnSpc>
              <a:buNone/>
            </a:pPr>
            <a:r>
              <a:rPr lang="en-US" sz="1200" dirty="0">
                <a:solidFill>
                  <a:srgbClr val="5A6B75"/>
                </a:solidFill>
                <a:latin typeface="Calibri" pitchFamily="34" charset="0"/>
                <a:ea typeface="Calibri" pitchFamily="34" charset="-122"/>
                <a:cs typeface="Calibri" pitchFamily="34" charset="-120"/>
              </a:rPr>
              <a:t>Siguiendo la segunda etapa del método: entrenamos un Random Forest para ver qué variables NO usadas para formar los clusters (salud, educación, vivienda) permiten distinguir al cluster más severo. Random Forest aporta acá el ranking de importancia de variables, no la clasificación en sí.</a:t>
            </a:r>
            <a:endParaRPr lang="en-US" sz="1200" dirty="0"/>
          </a:p>
        </p:txBody>
      </p:sp>
      <p:graphicFrame>
        <p:nvGraphicFramePr>
          <p:cNvPr id="5" name="Chart 0"/>
          <p:cNvGraphicFramePr/>
          <p:nvPr/>
        </p:nvGraphicFramePr>
        <p:xfrm>
          <a:off x="548640" y="1828800"/>
          <a:ext cx="749808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321040" y="1828800"/>
            <a:ext cx="3291840" cy="4572000"/>
          </a:xfrm>
          <a:prstGeom prst="roundRect">
            <a:avLst>
              <a:gd name="adj" fmla="val 2222"/>
            </a:avLst>
          </a:prstGeom>
          <a:solidFill>
            <a:srgbClr val="F2F6F8"/>
          </a:solidFill>
          <a:ln/>
        </p:spPr>
      </p:sp>
      <p:sp>
        <p:nvSpPr>
          <p:cNvPr id="7" name="Text 4"/>
          <p:cNvSpPr txBox="1"/>
          <p:nvPr/>
        </p:nvSpPr>
        <p:spPr>
          <a:xfrm>
            <a:off x="8595360" y="2057400"/>
            <a:ext cx="2743200" cy="548640"/>
          </a:xfrm>
          <a:prstGeom prst="rect">
            <a:avLst/>
          </a:prstGeom>
          <a:noFill/>
          <a:ln/>
        </p:spPr>
        <p:txBody>
          <a:bodyPr wrap="square" rtlCol="0" anchor="ctr"/>
          <a:lstStyle/>
          <a:p>
            <a:pPr marL="0" indent="0">
              <a:buNone/>
            </a:pPr>
            <a:r>
              <a:rPr lang="en-US" sz="2600" b="1" dirty="0">
                <a:solidFill>
                  <a:srgbClr val="065A82"/>
                </a:solidFill>
                <a:latin typeface="Cambria" pitchFamily="34" charset="0"/>
                <a:ea typeface="Cambria" pitchFamily="34" charset="-122"/>
                <a:cs typeface="Cambria" pitchFamily="34" charset="-120"/>
              </a:rPr>
              <a:t>AUC = 0,620</a:t>
            </a:r>
            <a:endParaRPr lang="en-US" sz="2600" dirty="0"/>
          </a:p>
        </p:txBody>
      </p:sp>
      <p:sp>
        <p:nvSpPr>
          <p:cNvPr id="8" name="Text 5"/>
          <p:cNvSpPr txBox="1"/>
          <p:nvPr/>
        </p:nvSpPr>
        <p:spPr>
          <a:xfrm>
            <a:off x="8595360" y="2697480"/>
            <a:ext cx="2743200" cy="1188720"/>
          </a:xfrm>
          <a:prstGeom prst="rect">
            <a:avLst/>
          </a:prstGeom>
          <a:noFill/>
          <a:ln/>
        </p:spPr>
        <p:txBody>
          <a:bodyPr wrap="square" rtlCol="0" anchor="ctr"/>
          <a:lstStyle/>
          <a:p>
            <a:pPr marL="0" indent="0">
              <a:lnSpc>
                <a:spcPct val="120000"/>
              </a:lnSpc>
              <a:buNone/>
            </a:pPr>
            <a:r>
              <a:rPr lang="en-US" sz="1100" dirty="0">
                <a:solidFill>
                  <a:srgbClr val="5A6B75"/>
                </a:solidFill>
                <a:latin typeface="Calibri" pitchFamily="34" charset="0"/>
                <a:ea typeface="Calibri" pitchFamily="34" charset="-122"/>
                <a:cs typeface="Calibri" pitchFamily="34" charset="-120"/>
              </a:rPr>
              <a:t>Random Forest, validación cruzada. Mide la capacidad de las variables de salud/educación/vivienda para anticipar la severidad definida por redes/alimentación.</a:t>
            </a:r>
            <a:endParaRPr lang="en-US" sz="1100" dirty="0"/>
          </a:p>
        </p:txBody>
      </p:sp>
      <p:sp>
        <p:nvSpPr>
          <p:cNvPr id="9" name="Shape 6"/>
          <p:cNvSpPr/>
          <p:nvPr/>
        </p:nvSpPr>
        <p:spPr>
          <a:xfrm>
            <a:off x="8595360" y="4069080"/>
            <a:ext cx="2560320" cy="0"/>
          </a:xfrm>
          <a:prstGeom prst="line">
            <a:avLst/>
          </a:prstGeom>
          <a:noFill/>
          <a:ln w="12700">
            <a:solidFill>
              <a:srgbClr val="C7D6DE"/>
            </a:solidFill>
            <a:prstDash val="solid"/>
          </a:ln>
        </p:spPr>
      </p:sp>
      <p:sp>
        <p:nvSpPr>
          <p:cNvPr id="10" name="Text 7"/>
          <p:cNvSpPr txBox="1"/>
          <p:nvPr/>
        </p:nvSpPr>
        <p:spPr>
          <a:xfrm>
            <a:off x="8595360" y="4251960"/>
            <a:ext cx="2743200" cy="1097280"/>
          </a:xfrm>
          <a:prstGeom prst="rect">
            <a:avLst/>
          </a:prstGeom>
          <a:noFill/>
          <a:ln/>
        </p:spPr>
        <p:txBody>
          <a:bodyPr wrap="square" rtlCol="0" anchor="ctr"/>
          <a:lstStyle/>
          <a:p>
            <a:pPr marL="0" indent="0">
              <a:lnSpc>
                <a:spcPct val="120000"/>
              </a:lnSpc>
              <a:buNone/>
            </a:pPr>
            <a:r>
              <a:rPr lang="en-US" sz="1100" i="1" dirty="0">
                <a:solidFill>
                  <a:srgbClr val="1B2430"/>
                </a:solidFill>
                <a:latin typeface="Calibri" pitchFamily="34" charset="0"/>
                <a:ea typeface="Calibri" pitchFamily="34" charset="-122"/>
                <a:cs typeface="Calibri" pitchFamily="34" charset="-120"/>
              </a:rPr>
              <a:t>Vivienda domina el ranking. Salud aparece recién en el noveno lugar, con peso bajo.</a:t>
            </a:r>
            <a:endParaRPr lang="en-US" sz="1100" dirty="0"/>
          </a:p>
        </p:txBody>
      </p:sp>
      <p:sp>
        <p:nvSpPr>
          <p:cNvPr id="11" name="Text 8"/>
          <p:cNvSpPr txBox="1"/>
          <p:nvPr/>
        </p:nvSpPr>
        <p:spPr>
          <a:xfrm>
            <a:off x="548640" y="6492240"/>
            <a:ext cx="10058400" cy="274320"/>
          </a:xfrm>
          <a:prstGeom prst="rect">
            <a:avLst/>
          </a:prstGeom>
          <a:noFill/>
          <a:ln/>
        </p:spPr>
        <p:txBody>
          <a:bodyPr wrap="square" rtlCol="0" anchor="ctr"/>
          <a:lstStyle/>
          <a:p>
            <a:pPr marL="0" indent="0">
              <a:buNone/>
            </a:pPr>
            <a:r>
              <a:rPr lang="en-US" sz="850" dirty="0">
                <a:solidFill>
                  <a:srgbClr val="5A6B75"/>
                </a:solidFill>
                <a:latin typeface="Calibri" pitchFamily="34" charset="0"/>
                <a:ea typeface="Calibri" pitchFamily="34" charset="-122"/>
                <a:cs typeface="Calibri" pitchFamily="34" charset="-120"/>
              </a:rPr>
              <a:t>Aplicación Final · Clustering (K-means) sobre CASEN 2024 · github.com/santimsoler/APLICACIONFINAL_PROGRAMACION_UBA</a:t>
            </a:r>
            <a:endParaRPr lang="en-US" sz="850" dirty="0"/>
          </a:p>
        </p:txBody>
      </p:sp>
      <p:sp>
        <p:nvSpPr>
          <p:cNvPr id="12" name="Text 9"/>
          <p:cNvSpPr txBox="1"/>
          <p:nvPr/>
        </p:nvSpPr>
        <p:spPr>
          <a:xfrm>
            <a:off x="11521440" y="6492240"/>
            <a:ext cx="365760" cy="274320"/>
          </a:xfrm>
          <a:prstGeom prst="rect">
            <a:avLst/>
          </a:prstGeom>
          <a:noFill/>
          <a:ln/>
        </p:spPr>
        <p:txBody>
          <a:bodyPr wrap="square"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74320"/>
          </a:xfrm>
          <a:prstGeom prst="rect">
            <a:avLst/>
          </a:prstGeom>
          <a:noFill/>
          <a:ln/>
        </p:spPr>
        <p:txBody>
          <a:bodyPr wrap="square" rtlCol="0" anchor="ctr"/>
          <a:lstStyle/>
          <a:p>
            <a:pPr marL="0" indent="0">
              <a:buNone/>
            </a:pPr>
            <a:r>
              <a:rPr lang="en-US" sz="1200" b="1" kern="0" spc="150" dirty="0">
                <a:solidFill>
                  <a:srgbClr val="1C7293"/>
                </a:solidFill>
                <a:latin typeface="Calibri" pitchFamily="34" charset="0"/>
                <a:ea typeface="Calibri" pitchFamily="34" charset="-122"/>
                <a:cs typeface="Calibri" pitchFamily="34" charset="-120"/>
              </a:rPr>
              <a:t>RESULTADO</a:t>
            </a:r>
            <a:endParaRPr lang="en-US" sz="1200" dirty="0"/>
          </a:p>
        </p:txBody>
      </p:sp>
      <p:sp>
        <p:nvSpPr>
          <p:cNvPr id="3" name="Text 1"/>
          <p:cNvSpPr txBox="1"/>
          <p:nvPr/>
        </p:nvSpPr>
        <p:spPr>
          <a:xfrm>
            <a:off x="548640" y="658368"/>
            <a:ext cx="1078992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Vivienda vs. salud: comparación directa</a:t>
            </a:r>
            <a:endParaRPr lang="en-US" sz="2600" dirty="0"/>
          </a:p>
        </p:txBody>
      </p:sp>
      <p:sp>
        <p:nvSpPr>
          <p:cNvPr id="4" name="Text 2"/>
          <p:cNvSpPr txBox="1"/>
          <p:nvPr/>
        </p:nvSpPr>
        <p:spPr>
          <a:xfrm>
            <a:off x="548640" y="1188720"/>
            <a:ext cx="10972800" cy="365760"/>
          </a:xfrm>
          <a:prstGeom prst="rect">
            <a:avLst/>
          </a:prstGeom>
          <a:noFill/>
          <a:ln/>
        </p:spPr>
        <p:txBody>
          <a:bodyPr wrap="square" rtlCol="0" anchor="ctr"/>
          <a:lstStyle/>
          <a:p>
            <a:pPr marL="0" indent="0">
              <a:buNone/>
            </a:pPr>
            <a:r>
              <a:rPr lang="en-US" sz="1250" dirty="0">
                <a:solidFill>
                  <a:srgbClr val="5A6B75"/>
                </a:solidFill>
                <a:latin typeface="Calibri" pitchFamily="34" charset="0"/>
                <a:ea typeface="Calibri" pitchFamily="34" charset="-122"/>
                <a:cs typeface="Calibri" pitchFamily="34" charset="-120"/>
              </a:rPr>
              <a:t>Corrimos el mismo Random Forest por separado para cada dimensión, con validación cruzada (5 particiones).</a:t>
            </a:r>
            <a:endParaRPr lang="en-US" sz="1250" dirty="0"/>
          </a:p>
        </p:txBody>
      </p:sp>
      <p:graphicFrame>
        <p:nvGraphicFramePr>
          <p:cNvPr id="5" name="Chart 0"/>
          <p:cNvGraphicFramePr/>
          <p:nvPr/>
        </p:nvGraphicFramePr>
        <p:xfrm>
          <a:off x="1371600" y="1737360"/>
          <a:ext cx="54864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223760" y="1737360"/>
            <a:ext cx="4389120" cy="4206240"/>
          </a:xfrm>
          <a:prstGeom prst="roundRect">
            <a:avLst>
              <a:gd name="adj" fmla="val 1739"/>
            </a:avLst>
          </a:prstGeom>
          <a:solidFill>
            <a:srgbClr val="F2F6F8"/>
          </a:solidFill>
          <a:ln/>
        </p:spPr>
      </p:sp>
      <p:sp>
        <p:nvSpPr>
          <p:cNvPr id="7" name="Text 4"/>
          <p:cNvSpPr txBox="1"/>
          <p:nvPr/>
        </p:nvSpPr>
        <p:spPr>
          <a:xfrm>
            <a:off x="7498080" y="1920240"/>
            <a:ext cx="3840480" cy="365760"/>
          </a:xfrm>
          <a:prstGeom prst="rect">
            <a:avLst/>
          </a:prstGeom>
          <a:noFill/>
          <a:ln/>
        </p:spPr>
        <p:txBody>
          <a:bodyPr wrap="square"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Lectura</a:t>
            </a:r>
            <a:endParaRPr lang="en-US" sz="1500" dirty="0"/>
          </a:p>
        </p:txBody>
      </p:sp>
      <p:sp>
        <p:nvSpPr>
          <p:cNvPr id="8" name="Text 5"/>
          <p:cNvSpPr txBox="1"/>
          <p:nvPr/>
        </p:nvSpPr>
        <p:spPr>
          <a:xfrm>
            <a:off x="7498080" y="2377440"/>
            <a:ext cx="3931920" cy="3383280"/>
          </a:xfrm>
          <a:prstGeom prst="rect">
            <a:avLst/>
          </a:prstGeom>
          <a:noFill/>
          <a:ln/>
        </p:spPr>
        <p:txBody>
          <a:bodyPr wrap="square" rtlCol="0" anchor="ctr"/>
          <a:lstStyle/>
          <a:p>
            <a:pPr marL="342900" indent="-342900">
              <a:lnSpc>
                <a:spcPct val="125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Vivienda: AUC 0,615 (±0,011) — poder predictivo moderado, claramente por encima del azar (0,5)</a:t>
            </a:r>
            <a:endParaRPr lang="en-US" sz="1200" dirty="0"/>
          </a:p>
          <a:p>
            <a:pPr marL="342900" indent="-342900">
              <a:lnSpc>
                <a:spcPct val="125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Salud: AUC 0,534 (±0,011) — apenas por encima del azar, casi sin capacidad de distinguir severidad</a:t>
            </a:r>
            <a:endParaRPr lang="en-US" sz="1200" dirty="0"/>
          </a:p>
          <a:p>
            <a:pPr marL="342900" indent="-342900">
              <a:lnSpc>
                <a:spcPct val="125000"/>
              </a:lnSpc>
              <a:spcAft>
                <a:spcPts val="1000"/>
              </a:spcAft>
              <a:buSzPct val="100000"/>
              <a:buChar char="•"/>
            </a:pPr>
            <a:r>
              <a:rPr lang="en-US" sz="1200" dirty="0">
                <a:solidFill>
                  <a:srgbClr val="1B2430"/>
                </a:solidFill>
                <a:latin typeface="Calibri" pitchFamily="34" charset="0"/>
                <a:ea typeface="Calibri" pitchFamily="34" charset="-122"/>
                <a:cs typeface="Calibri" pitchFamily="34" charset="-120"/>
              </a:rPr>
              <a:t>La desviación baja en ambos casos indica que el resultado es estable entre particiones, no producto del azar de una sola corrida</a:t>
            </a:r>
            <a:endParaRPr lang="en-US" sz="1200" dirty="0"/>
          </a:p>
        </p:txBody>
      </p:sp>
      <p:sp>
        <p:nvSpPr>
          <p:cNvPr id="9" name="Text 6"/>
          <p:cNvSpPr txBox="1"/>
          <p:nvPr/>
        </p:nvSpPr>
        <p:spPr>
          <a:xfrm>
            <a:off x="548640" y="6492240"/>
            <a:ext cx="10058400" cy="274320"/>
          </a:xfrm>
          <a:prstGeom prst="rect">
            <a:avLst/>
          </a:prstGeom>
          <a:noFill/>
          <a:ln/>
        </p:spPr>
        <p:txBody>
          <a:bodyPr wrap="square" rtlCol="0" anchor="ctr"/>
          <a:lstStyle/>
          <a:p>
            <a:pPr marL="0" indent="0">
              <a:buNone/>
            </a:pPr>
            <a:r>
              <a:rPr lang="en-US" sz="850" dirty="0">
                <a:solidFill>
                  <a:srgbClr val="5A6B75"/>
                </a:solidFill>
                <a:latin typeface="Calibri" pitchFamily="34" charset="0"/>
                <a:ea typeface="Calibri" pitchFamily="34" charset="-122"/>
                <a:cs typeface="Calibri" pitchFamily="34" charset="-120"/>
              </a:rPr>
              <a:t>Aplicación Final · Clustering (K-means) sobre CASEN 2024 · github.com/santimsoler/APLICACIONFINAL_PROGRAMACION_UBA</a:t>
            </a:r>
            <a:endParaRPr lang="en-US" sz="850" dirty="0"/>
          </a:p>
        </p:txBody>
      </p:sp>
      <p:sp>
        <p:nvSpPr>
          <p:cNvPr id="10" name="Text 7"/>
          <p:cNvSpPr txBox="1"/>
          <p:nvPr/>
        </p:nvSpPr>
        <p:spPr>
          <a:xfrm>
            <a:off x="11521440" y="6492240"/>
            <a:ext cx="365760" cy="274320"/>
          </a:xfrm>
          <a:prstGeom prst="rect">
            <a:avLst/>
          </a:prstGeom>
          <a:noFill/>
          <a:ln/>
        </p:spPr>
        <p:txBody>
          <a:bodyPr wrap="square"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78992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Interpretación económica</a:t>
            </a:r>
            <a:endParaRPr lang="en-US" sz="2600" dirty="0"/>
          </a:p>
        </p:txBody>
      </p:sp>
      <p:sp>
        <p:nvSpPr>
          <p:cNvPr id="3" name="Shape 1"/>
          <p:cNvSpPr/>
          <p:nvPr/>
        </p:nvSpPr>
        <p:spPr>
          <a:xfrm>
            <a:off x="548640" y="1371600"/>
            <a:ext cx="11064240" cy="1508760"/>
          </a:xfrm>
          <a:prstGeom prst="roundRect">
            <a:avLst>
              <a:gd name="adj" fmla="val 4242"/>
            </a:avLst>
          </a:prstGeom>
          <a:solidFill>
            <a:srgbClr val="F2F6F8"/>
          </a:solidFill>
          <a:ln/>
        </p:spPr>
      </p:sp>
      <p:sp>
        <p:nvSpPr>
          <p:cNvPr id="4" name="Text 2"/>
          <p:cNvSpPr txBox="1"/>
          <p:nvPr/>
        </p:nvSpPr>
        <p:spPr>
          <a:xfrm>
            <a:off x="868680" y="1490472"/>
            <a:ext cx="10424160" cy="320040"/>
          </a:xfrm>
          <a:prstGeom prst="rect">
            <a:avLst/>
          </a:prstGeom>
          <a:noFill/>
          <a:ln/>
        </p:spPr>
        <p:txBody>
          <a:bodyPr wrap="square" rtlCol="0" anchor="ctr"/>
          <a:lstStyle/>
          <a:p>
            <a:pPr marL="0" indent="0">
              <a:buNone/>
            </a:pPr>
            <a:r>
              <a:rPr lang="en-US" sz="1400" b="1" dirty="0">
                <a:solidFill>
                  <a:srgbClr val="065A82"/>
                </a:solidFill>
                <a:latin typeface="Cambria" pitchFamily="34" charset="0"/>
                <a:ea typeface="Cambria" pitchFamily="34" charset="-122"/>
                <a:cs typeface="Cambria" pitchFamily="34" charset="-120"/>
              </a:rPr>
              <a:t>Vivienda como activo estructural</a:t>
            </a:r>
            <a:endParaRPr lang="en-US" sz="1400" dirty="0"/>
          </a:p>
        </p:txBody>
      </p:sp>
      <p:sp>
        <p:nvSpPr>
          <p:cNvPr id="5" name="Text 3"/>
          <p:cNvSpPr txBox="1"/>
          <p:nvPr/>
        </p:nvSpPr>
        <p:spPr>
          <a:xfrm>
            <a:off x="868680" y="1828800"/>
            <a:ext cx="10424160" cy="960120"/>
          </a:xfrm>
          <a:prstGeom prst="rect">
            <a:avLst/>
          </a:prstGeom>
          <a:noFill/>
          <a:ln/>
        </p:spPr>
        <p:txBody>
          <a:bodyPr wrap="square" rtlCol="0" anchor="ctr"/>
          <a:lstStyle/>
          <a:p>
            <a:pPr marL="0" indent="0">
              <a:lnSpc>
                <a:spcPct val="120000"/>
              </a:lnSpc>
              <a:buNone/>
            </a:pPr>
            <a:r>
              <a:rPr lang="en-US" sz="1150" dirty="0">
                <a:solidFill>
                  <a:srgbClr val="1B2430"/>
                </a:solidFill>
                <a:latin typeface="Calibri" pitchFamily="34" charset="0"/>
                <a:ea typeface="Calibri" pitchFamily="34" charset="-122"/>
                <a:cs typeface="Calibri" pitchFamily="34" charset="-120"/>
              </a:rPr>
              <a:t>La materialidad y el tamaño de la vivienda reflejan privación acumulada en el tiempo — son más difíciles de modificar en el corto plazo que otras dimensiones, lo que explica por qué distinguen bien entre niveles de severidad.</a:t>
            </a:r>
            <a:endParaRPr lang="en-US" sz="1150" dirty="0"/>
          </a:p>
        </p:txBody>
      </p:sp>
      <p:sp>
        <p:nvSpPr>
          <p:cNvPr id="6" name="Shape 4"/>
          <p:cNvSpPr/>
          <p:nvPr/>
        </p:nvSpPr>
        <p:spPr>
          <a:xfrm>
            <a:off x="548640" y="3017520"/>
            <a:ext cx="11064240" cy="1508760"/>
          </a:xfrm>
          <a:prstGeom prst="roundRect">
            <a:avLst>
              <a:gd name="adj" fmla="val 4242"/>
            </a:avLst>
          </a:prstGeom>
          <a:solidFill>
            <a:srgbClr val="F2F6F8"/>
          </a:solidFill>
          <a:ln/>
        </p:spPr>
      </p:sp>
      <p:sp>
        <p:nvSpPr>
          <p:cNvPr id="7" name="Text 5"/>
          <p:cNvSpPr txBox="1"/>
          <p:nvPr/>
        </p:nvSpPr>
        <p:spPr>
          <a:xfrm>
            <a:off x="868680" y="3136392"/>
            <a:ext cx="10424160" cy="320040"/>
          </a:xfrm>
          <a:prstGeom prst="rect">
            <a:avLst/>
          </a:prstGeom>
          <a:noFill/>
          <a:ln/>
        </p:spPr>
        <p:txBody>
          <a:bodyPr wrap="square" rtlCol="0" anchor="ctr"/>
          <a:lstStyle/>
          <a:p>
            <a:pPr marL="0" indent="0">
              <a:buNone/>
            </a:pPr>
            <a:r>
              <a:rPr lang="en-US" sz="1400" b="1" dirty="0">
                <a:solidFill>
                  <a:srgbClr val="065A82"/>
                </a:solidFill>
                <a:latin typeface="Cambria" pitchFamily="34" charset="0"/>
                <a:ea typeface="Cambria" pitchFamily="34" charset="-122"/>
                <a:cs typeface="Cambria" pitchFamily="34" charset="-120"/>
              </a:rPr>
              <a:t>Salud con cobertura relativamente uniforme</a:t>
            </a:r>
            <a:endParaRPr lang="en-US" sz="1400" dirty="0"/>
          </a:p>
        </p:txBody>
      </p:sp>
      <p:sp>
        <p:nvSpPr>
          <p:cNvPr id="8" name="Text 6"/>
          <p:cNvSpPr txBox="1"/>
          <p:nvPr/>
        </p:nvSpPr>
        <p:spPr>
          <a:xfrm>
            <a:off x="868680" y="3474720"/>
            <a:ext cx="10424160" cy="960120"/>
          </a:xfrm>
          <a:prstGeom prst="rect">
            <a:avLst/>
          </a:prstGeom>
          <a:noFill/>
          <a:ln/>
        </p:spPr>
        <p:txBody>
          <a:bodyPr wrap="square" rtlCol="0" anchor="ctr"/>
          <a:lstStyle/>
          <a:p>
            <a:pPr marL="0" indent="0">
              <a:lnSpc>
                <a:spcPct val="120000"/>
              </a:lnSpc>
              <a:buNone/>
            </a:pPr>
            <a:r>
              <a:rPr lang="en-US" sz="1150" dirty="0">
                <a:solidFill>
                  <a:srgbClr val="1B2430"/>
                </a:solidFill>
                <a:latin typeface="Calibri" pitchFamily="34" charset="0"/>
                <a:ea typeface="Calibri" pitchFamily="34" charset="-122"/>
                <a:cs typeface="Calibri" pitchFamily="34" charset="-120"/>
              </a:rPr>
              <a:t>En Chile, el sistema de salud (FONASA) tiene una cobertura amplia entre los hogares de bajos ingresos, lo que reduce la variabilidad de esta dimensión dentro del grupo de pobres — de ahí su bajo poder para distinguir severidad.</a:t>
            </a:r>
            <a:endParaRPr lang="en-US" sz="1150" dirty="0"/>
          </a:p>
        </p:txBody>
      </p:sp>
      <p:sp>
        <p:nvSpPr>
          <p:cNvPr id="9" name="Shape 7"/>
          <p:cNvSpPr/>
          <p:nvPr/>
        </p:nvSpPr>
        <p:spPr>
          <a:xfrm>
            <a:off x="548640" y="4663440"/>
            <a:ext cx="11064240" cy="1508760"/>
          </a:xfrm>
          <a:prstGeom prst="roundRect">
            <a:avLst>
              <a:gd name="adj" fmla="val 4242"/>
            </a:avLst>
          </a:prstGeom>
          <a:solidFill>
            <a:srgbClr val="F2F6F8"/>
          </a:solidFill>
          <a:ln/>
        </p:spPr>
      </p:sp>
      <p:sp>
        <p:nvSpPr>
          <p:cNvPr id="10" name="Text 8"/>
          <p:cNvSpPr txBox="1"/>
          <p:nvPr/>
        </p:nvSpPr>
        <p:spPr>
          <a:xfrm>
            <a:off x="868680" y="4782312"/>
            <a:ext cx="10424160" cy="320040"/>
          </a:xfrm>
          <a:prstGeom prst="rect">
            <a:avLst/>
          </a:prstGeom>
          <a:noFill/>
          <a:ln/>
        </p:spPr>
        <p:txBody>
          <a:bodyPr wrap="square" rtlCol="0" anchor="ctr"/>
          <a:lstStyle/>
          <a:p>
            <a:pPr marL="0" indent="0">
              <a:buNone/>
            </a:pPr>
            <a:r>
              <a:rPr lang="en-US" sz="1400" b="1" dirty="0">
                <a:solidFill>
                  <a:srgbClr val="065A82"/>
                </a:solidFill>
                <a:latin typeface="Cambria" pitchFamily="34" charset="0"/>
                <a:ea typeface="Cambria" pitchFamily="34" charset="-122"/>
                <a:cs typeface="Cambria" pitchFamily="34" charset="-120"/>
              </a:rPr>
              <a:t>Redes y alimentación como el núcleo de la severidad</a:t>
            </a:r>
            <a:endParaRPr lang="en-US" sz="1400" dirty="0"/>
          </a:p>
        </p:txBody>
      </p:sp>
      <p:sp>
        <p:nvSpPr>
          <p:cNvPr id="11" name="Text 9"/>
          <p:cNvSpPr txBox="1"/>
          <p:nvPr/>
        </p:nvSpPr>
        <p:spPr>
          <a:xfrm>
            <a:off x="868680" y="5120640"/>
            <a:ext cx="10424160" cy="960120"/>
          </a:xfrm>
          <a:prstGeom prst="rect">
            <a:avLst/>
          </a:prstGeom>
          <a:noFill/>
          <a:ln/>
        </p:spPr>
        <p:txBody>
          <a:bodyPr wrap="square" rtlCol="0" anchor="ctr"/>
          <a:lstStyle/>
          <a:p>
            <a:pPr marL="0" indent="0">
              <a:lnSpc>
                <a:spcPct val="120000"/>
              </a:lnSpc>
              <a:buNone/>
            </a:pPr>
            <a:r>
              <a:rPr lang="en-US" sz="1150" dirty="0">
                <a:solidFill>
                  <a:srgbClr val="1B2430"/>
                </a:solidFill>
                <a:latin typeface="Calibri" pitchFamily="34" charset="0"/>
                <a:ea typeface="Calibri" pitchFamily="34" charset="-122"/>
                <a:cs typeface="Calibri" pitchFamily="34" charset="-120"/>
              </a:rPr>
              <a:t>Estas variables no forman parte del índice oficial de pobreza multidimensional, pero fueron las que definieron con más claridad al grupo más comprometido — sugiere que el aislamiento social y la inseguridad alimentaria capturan una dimensión de vulnerabilidad no cubierta por la medición oficial.</a:t>
            </a:r>
            <a:endParaRPr lang="en-US" sz="1150" dirty="0"/>
          </a:p>
        </p:txBody>
      </p:sp>
      <p:sp>
        <p:nvSpPr>
          <p:cNvPr id="12" name="Text 10"/>
          <p:cNvSpPr txBox="1"/>
          <p:nvPr/>
        </p:nvSpPr>
        <p:spPr>
          <a:xfrm>
            <a:off x="548640" y="6492240"/>
            <a:ext cx="10058400" cy="274320"/>
          </a:xfrm>
          <a:prstGeom prst="rect">
            <a:avLst/>
          </a:prstGeom>
          <a:noFill/>
          <a:ln/>
        </p:spPr>
        <p:txBody>
          <a:bodyPr wrap="square" rtlCol="0" anchor="ctr"/>
          <a:lstStyle/>
          <a:p>
            <a:pPr marL="0" indent="0">
              <a:buNone/>
            </a:pPr>
            <a:r>
              <a:rPr lang="en-US" sz="850" dirty="0">
                <a:solidFill>
                  <a:srgbClr val="5A6B75"/>
                </a:solidFill>
                <a:latin typeface="Calibri" pitchFamily="34" charset="0"/>
                <a:ea typeface="Calibri" pitchFamily="34" charset="-122"/>
                <a:cs typeface="Calibri" pitchFamily="34" charset="-120"/>
              </a:rPr>
              <a:t>Aplicación Final · Clustering (K-means) sobre CASEN 2024 · github.com/santimsoler/APLICACIONFINAL_PROGRAMACION_UBA</a:t>
            </a:r>
            <a:endParaRPr lang="en-US" sz="850" dirty="0"/>
          </a:p>
        </p:txBody>
      </p:sp>
      <p:sp>
        <p:nvSpPr>
          <p:cNvPr id="13" name="Text 11"/>
          <p:cNvSpPr txBox="1"/>
          <p:nvPr/>
        </p:nvSpPr>
        <p:spPr>
          <a:xfrm>
            <a:off x="11521440" y="6492240"/>
            <a:ext cx="365760" cy="274320"/>
          </a:xfrm>
          <a:prstGeom prst="rect">
            <a:avLst/>
          </a:prstGeom>
          <a:noFill/>
          <a:ln/>
        </p:spPr>
        <p:txBody>
          <a:bodyPr wrap="square"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0789920" cy="64008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Reflexión final</a:t>
            </a:r>
            <a:endParaRPr lang="en-US" sz="2600" dirty="0"/>
          </a:p>
        </p:txBody>
      </p:sp>
      <p:sp>
        <p:nvSpPr>
          <p:cNvPr id="3" name="Text 1"/>
          <p:cNvSpPr txBox="1"/>
          <p:nvPr/>
        </p:nvSpPr>
        <p:spPr>
          <a:xfrm>
            <a:off x="548640" y="1417320"/>
            <a:ext cx="5303520" cy="365760"/>
          </a:xfrm>
          <a:prstGeom prst="rect">
            <a:avLst/>
          </a:prstGeom>
          <a:noFill/>
          <a:ln/>
        </p:spPr>
        <p:txBody>
          <a:bodyPr wrap="square" rtlCol="0" anchor="ctr"/>
          <a:lstStyle/>
          <a:p>
            <a:pPr marL="0" indent="0">
              <a:buNone/>
            </a:pPr>
            <a:r>
              <a:rPr lang="en-US" sz="1600" b="1" dirty="0">
                <a:solidFill>
                  <a:srgbClr val="6FD3C7"/>
                </a:solidFill>
                <a:latin typeface="Cambria" pitchFamily="34" charset="0"/>
                <a:ea typeface="Cambria" pitchFamily="34" charset="-122"/>
                <a:cs typeface="Cambria" pitchFamily="34" charset="-120"/>
              </a:rPr>
              <a:t>Sobre los datos</a:t>
            </a:r>
            <a:endParaRPr lang="en-US" sz="1600" dirty="0"/>
          </a:p>
        </p:txBody>
      </p:sp>
      <p:sp>
        <p:nvSpPr>
          <p:cNvPr id="4" name="Text 2"/>
          <p:cNvSpPr txBox="1"/>
          <p:nvPr/>
        </p:nvSpPr>
        <p:spPr>
          <a:xfrm>
            <a:off x="548640" y="1828800"/>
            <a:ext cx="5303520" cy="2743200"/>
          </a:xfrm>
          <a:prstGeom prst="rect">
            <a:avLst/>
          </a:prstGeom>
          <a:noFill/>
          <a:ln/>
        </p:spPr>
        <p:txBody>
          <a:bodyPr wrap="square" rtlCol="0" anchor="ctr"/>
          <a:lstStyle/>
          <a:p>
            <a:pPr marL="342900" indent="-342900">
              <a:lnSpc>
                <a:spcPct val="125000"/>
              </a:lnSpc>
              <a:spcAft>
                <a:spcPts val="1000"/>
              </a:spcAft>
              <a:buSzPct val="100000"/>
              <a:buChar char="•"/>
            </a:pPr>
            <a:r>
              <a:rPr lang="en-US" sz="1200" dirty="0">
                <a:solidFill>
                  <a:srgbClr val="E4ECF3"/>
                </a:solidFill>
                <a:latin typeface="Calibri" pitchFamily="34" charset="0"/>
                <a:ea typeface="Calibri" pitchFamily="34" charset="-122"/>
                <a:cs typeface="Calibri" pitchFamily="34" charset="-120"/>
              </a:rPr>
              <a:t>La pobreza multidimensional no es un bloque homogéneo — hay niveles de severidad distintos dentro del grupo de pobres</a:t>
            </a:r>
            <a:endParaRPr lang="en-US" sz="1200" dirty="0"/>
          </a:p>
          <a:p>
            <a:pPr marL="342900" indent="-342900">
              <a:lnSpc>
                <a:spcPct val="125000"/>
              </a:lnSpc>
              <a:spcAft>
                <a:spcPts val="1000"/>
              </a:spcAft>
              <a:buSzPct val="100000"/>
              <a:buChar char="•"/>
            </a:pPr>
            <a:r>
              <a:rPr lang="en-US" sz="1200" dirty="0">
                <a:solidFill>
                  <a:srgbClr val="E4ECF3"/>
                </a:solidFill>
                <a:latin typeface="Calibri" pitchFamily="34" charset="0"/>
                <a:ea typeface="Calibri" pitchFamily="34" charset="-122"/>
                <a:cs typeface="Calibri" pitchFamily="34" charset="-120"/>
              </a:rPr>
              <a:t>Variables que no forman parte del índice oficial (redes de apoyo, inseguridad alimentaria) resultaron más informativas que dimensiones que sí lo integran (salud)</a:t>
            </a:r>
            <a:endParaRPr lang="en-US" sz="1200" dirty="0"/>
          </a:p>
          <a:p>
            <a:pPr marL="342900" indent="-342900">
              <a:lnSpc>
                <a:spcPct val="125000"/>
              </a:lnSpc>
              <a:spcAft>
                <a:spcPts val="1000"/>
              </a:spcAft>
              <a:buSzPct val="100000"/>
              <a:buChar char="•"/>
            </a:pPr>
            <a:r>
              <a:rPr lang="en-US" sz="1200" dirty="0">
                <a:solidFill>
                  <a:srgbClr val="E4ECF3"/>
                </a:solidFill>
                <a:latin typeface="Calibri" pitchFamily="34" charset="0"/>
                <a:ea typeface="Calibri" pitchFamily="34" charset="-122"/>
                <a:cs typeface="Calibri" pitchFamily="34" charset="-120"/>
              </a:rPr>
              <a:t>Validar cifras contra fuentes oficiales (17,7% a nivel persona) fue clave para detectar errores de unidad de análisis antes de sacar conclusiones</a:t>
            </a:r>
            <a:endParaRPr lang="en-US" sz="1200" dirty="0"/>
          </a:p>
        </p:txBody>
      </p:sp>
      <p:sp>
        <p:nvSpPr>
          <p:cNvPr id="5" name="Text 3"/>
          <p:cNvSpPr txBox="1"/>
          <p:nvPr/>
        </p:nvSpPr>
        <p:spPr>
          <a:xfrm>
            <a:off x="6309360" y="1417320"/>
            <a:ext cx="5303520" cy="365760"/>
          </a:xfrm>
          <a:prstGeom prst="rect">
            <a:avLst/>
          </a:prstGeom>
          <a:noFill/>
          <a:ln/>
        </p:spPr>
        <p:txBody>
          <a:bodyPr wrap="square" rtlCol="0" anchor="ctr"/>
          <a:lstStyle/>
          <a:p>
            <a:pPr marL="0" indent="0">
              <a:buNone/>
            </a:pPr>
            <a:r>
              <a:rPr lang="en-US" sz="1600" b="1" dirty="0">
                <a:solidFill>
                  <a:srgbClr val="6FD3C7"/>
                </a:solidFill>
                <a:latin typeface="Cambria" pitchFamily="34" charset="0"/>
                <a:ea typeface="Cambria" pitchFamily="34" charset="-122"/>
                <a:cs typeface="Cambria" pitchFamily="34" charset="-120"/>
              </a:rPr>
              <a:t>Sobre la herramienta</a:t>
            </a:r>
            <a:endParaRPr lang="en-US" sz="1600" dirty="0"/>
          </a:p>
        </p:txBody>
      </p:sp>
      <p:sp>
        <p:nvSpPr>
          <p:cNvPr id="6" name="Text 4"/>
          <p:cNvSpPr txBox="1"/>
          <p:nvPr/>
        </p:nvSpPr>
        <p:spPr>
          <a:xfrm>
            <a:off x="6309360" y="1828800"/>
            <a:ext cx="5303520" cy="2743200"/>
          </a:xfrm>
          <a:prstGeom prst="rect">
            <a:avLst/>
          </a:prstGeom>
          <a:noFill/>
          <a:ln/>
        </p:spPr>
        <p:txBody>
          <a:bodyPr wrap="square" rtlCol="0" anchor="ctr"/>
          <a:lstStyle/>
          <a:p>
            <a:pPr marL="342900" indent="-342900">
              <a:lnSpc>
                <a:spcPct val="125000"/>
              </a:lnSpc>
              <a:spcAft>
                <a:spcPts val="1000"/>
              </a:spcAft>
              <a:buSzPct val="100000"/>
              <a:buChar char="•"/>
            </a:pPr>
            <a:r>
              <a:rPr lang="en-US" sz="1200" dirty="0">
                <a:solidFill>
                  <a:srgbClr val="E4ECF3"/>
                </a:solidFill>
                <a:latin typeface="Calibri" pitchFamily="34" charset="0"/>
                <a:ea typeface="Calibri" pitchFamily="34" charset="-122"/>
                <a:cs typeface="Calibri" pitchFamily="34" charset="-120"/>
              </a:rPr>
              <a:t>Elegir k con criterios objetivos (silhouette, codo) evita decisiones arbitrarias, aunque no siempre da una respuesta única</a:t>
            </a:r>
            <a:endParaRPr lang="en-US" sz="1200" dirty="0"/>
          </a:p>
          <a:p>
            <a:pPr marL="342900" indent="-342900">
              <a:lnSpc>
                <a:spcPct val="125000"/>
              </a:lnSpc>
              <a:spcAft>
                <a:spcPts val="1000"/>
              </a:spcAft>
              <a:buSzPct val="100000"/>
              <a:buChar char="•"/>
            </a:pPr>
            <a:r>
              <a:rPr lang="en-US" sz="1200" dirty="0">
                <a:solidFill>
                  <a:srgbClr val="E4ECF3"/>
                </a:solidFill>
                <a:latin typeface="Calibri" pitchFamily="34" charset="0"/>
                <a:ea typeface="Calibri" pitchFamily="34" charset="-122"/>
                <a:cs typeface="Calibri" pitchFamily="34" charset="-120"/>
              </a:rPr>
              <a:t>El clustering es exploratorio: encuentra grupos, pero interpretar su sentido económico requiere trabajo adicional (como la selección de variables)</a:t>
            </a:r>
            <a:endParaRPr lang="en-US" sz="1200" dirty="0"/>
          </a:p>
          <a:p>
            <a:pPr marL="342900" indent="-342900">
              <a:lnSpc>
                <a:spcPct val="125000"/>
              </a:lnSpc>
              <a:spcAft>
                <a:spcPts val="1000"/>
              </a:spcAft>
              <a:buSzPct val="100000"/>
              <a:buChar char="•"/>
            </a:pPr>
            <a:r>
              <a:rPr lang="en-US" sz="1200" dirty="0">
                <a:solidFill>
                  <a:srgbClr val="E4ECF3"/>
                </a:solidFill>
                <a:latin typeface="Calibri" pitchFamily="34" charset="0"/>
                <a:ea typeface="Calibri" pitchFamily="34" charset="-122"/>
                <a:cs typeface="Calibri" pitchFamily="34" charset="-120"/>
              </a:rPr>
              <a:t>Cuidar la circularidad —no usar las mismas variables para formar y explicar un grupo— fue el aprendizaje metodológico más importante del trabajo</a:t>
            </a:r>
            <a:endParaRPr lang="en-US" sz="1200" dirty="0"/>
          </a:p>
        </p:txBody>
      </p:sp>
      <p:sp>
        <p:nvSpPr>
          <p:cNvPr id="7" name="Shape 5"/>
          <p:cNvSpPr/>
          <p:nvPr/>
        </p:nvSpPr>
        <p:spPr>
          <a:xfrm>
            <a:off x="548640" y="4846320"/>
            <a:ext cx="11064240" cy="1280160"/>
          </a:xfrm>
          <a:prstGeom prst="roundRect">
            <a:avLst>
              <a:gd name="adj" fmla="val 5714"/>
            </a:avLst>
          </a:prstGeom>
          <a:solidFill>
            <a:srgbClr val="1B2B57"/>
          </a:solidFill>
          <a:ln/>
        </p:spPr>
      </p:sp>
      <p:sp>
        <p:nvSpPr>
          <p:cNvPr id="8" name="Text 6"/>
          <p:cNvSpPr txBox="1"/>
          <p:nvPr/>
        </p:nvSpPr>
        <p:spPr>
          <a:xfrm>
            <a:off x="914400" y="4846320"/>
            <a:ext cx="10332720" cy="1280160"/>
          </a:xfrm>
          <a:prstGeom prst="rect">
            <a:avLst/>
          </a:prstGeom>
          <a:noFill/>
          <a:ln/>
        </p:spPr>
        <p:txBody>
          <a:bodyPr wrap="square" rtlCol="0" anchor="ctr"/>
          <a:lstStyle/>
          <a:p>
            <a:pPr marL="0" indent="0">
              <a:lnSpc>
                <a:spcPct val="125000"/>
              </a:lnSpc>
              <a:buNone/>
            </a:pPr>
            <a:r>
              <a:rPr lang="en-US" sz="1300" i="1" dirty="0">
                <a:solidFill>
                  <a:srgbClr val="E4ECF3"/>
                </a:solidFill>
                <a:latin typeface="Calibri" pitchFamily="34" charset="0"/>
                <a:ea typeface="Calibri" pitchFamily="34" charset="-122"/>
                <a:cs typeface="Calibri" pitchFamily="34" charset="-120"/>
              </a:rPr>
              <a:t>En síntesis: combinar clustering con selección de variables permitió pasar de una pregunta general —qué predice la pobreza— a una más precisa y accionable: qué distingue a los hogares en la situación más crítica dentro de los que ya son pobres.</a:t>
            </a:r>
            <a:endParaRPr lang="en-US" sz="1300" dirty="0"/>
          </a:p>
        </p:txBody>
      </p:sp>
      <p:sp>
        <p:nvSpPr>
          <p:cNvPr id="9" name="Text 7"/>
          <p:cNvSpPr txBox="1"/>
          <p:nvPr/>
        </p:nvSpPr>
        <p:spPr>
          <a:xfrm>
            <a:off x="548640" y="6492240"/>
            <a:ext cx="10058400" cy="274320"/>
          </a:xfrm>
          <a:prstGeom prst="rect">
            <a:avLst/>
          </a:prstGeom>
          <a:noFill/>
          <a:ln/>
        </p:spPr>
        <p:txBody>
          <a:bodyPr wrap="square" rtlCol="0" anchor="ctr"/>
          <a:lstStyle/>
          <a:p>
            <a:pPr marL="0" indent="0">
              <a:buNone/>
            </a:pPr>
            <a:r>
              <a:rPr lang="en-US" sz="850" dirty="0">
                <a:solidFill>
                  <a:srgbClr val="9FB4C8"/>
                </a:solidFill>
                <a:latin typeface="Calibri" pitchFamily="34" charset="0"/>
                <a:ea typeface="Calibri" pitchFamily="34" charset="-122"/>
                <a:cs typeface="Calibri" pitchFamily="34" charset="-120"/>
              </a:rPr>
              <a:t>Aplicación Final · Clustering (K-means) sobre CASEN 2024 · github.com/santimsoler/APLICACIONFINAL_PROGRAMACION_UBA</a:t>
            </a:r>
            <a:endParaRPr lang="en-US" sz="850" dirty="0"/>
          </a:p>
        </p:txBody>
      </p:sp>
      <p:sp>
        <p:nvSpPr>
          <p:cNvPr id="10" name="Text 8"/>
          <p:cNvSpPr txBox="1"/>
          <p:nvPr/>
        </p:nvSpPr>
        <p:spPr>
          <a:xfrm>
            <a:off x="11521440" y="6492240"/>
            <a:ext cx="365760" cy="274320"/>
          </a:xfrm>
          <a:prstGeom prst="rect">
            <a:avLst/>
          </a:prstGeom>
          <a:noFill/>
          <a:ln/>
        </p:spPr>
        <p:txBody>
          <a:bodyPr wrap="square" rtlCol="0" anchor="ctr"/>
          <a:lstStyle/>
          <a:p>
            <a:pPr marL="0" indent="0" algn="r">
              <a:buNone/>
            </a:pPr>
            <a:r>
              <a:rPr lang="en-US" sz="900" dirty="0">
                <a:solidFill>
                  <a:srgbClr val="9FB4C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692640" y="4754880"/>
            <a:ext cx="3657600" cy="3657600"/>
          </a:xfrm>
          <a:prstGeom prst="ellipse">
            <a:avLst/>
          </a:prstGeom>
          <a:solidFill>
            <a:srgbClr val="F2F6F8"/>
          </a:solidFill>
          <a:ln/>
        </p:spPr>
      </p:sp>
      <p:sp>
        <p:nvSpPr>
          <p:cNvPr id="3" name="Text 1"/>
          <p:cNvSpPr txBox="1"/>
          <p:nvPr/>
        </p:nvSpPr>
        <p:spPr>
          <a:xfrm>
            <a:off x="731520" y="2560320"/>
            <a:ext cx="7315200" cy="1097280"/>
          </a:xfrm>
          <a:prstGeom prst="rect">
            <a:avLst/>
          </a:prstGeom>
          <a:noFill/>
          <a:ln/>
        </p:spPr>
        <p:txBody>
          <a:bodyPr wrap="square" rtlCol="0" anchor="ctr"/>
          <a:lstStyle/>
          <a:p>
            <a:pPr marL="0" indent="0">
              <a:buNone/>
            </a:pPr>
            <a:r>
              <a:rPr lang="en-US" sz="4400" b="1" dirty="0">
                <a:solidFill>
                  <a:srgbClr val="1B2430"/>
                </a:solidFill>
                <a:latin typeface="Cambria" pitchFamily="34" charset="0"/>
                <a:ea typeface="Cambria" pitchFamily="34" charset="-122"/>
                <a:cs typeface="Cambria" pitchFamily="34" charset="-120"/>
              </a:rPr>
              <a:t>Gracias</a:t>
            </a:r>
            <a:endParaRPr lang="en-US" sz="4400" dirty="0"/>
          </a:p>
        </p:txBody>
      </p:sp>
      <p:sp>
        <p:nvSpPr>
          <p:cNvPr id="4" name="Text 2"/>
          <p:cNvSpPr txBox="1"/>
          <p:nvPr/>
        </p:nvSpPr>
        <p:spPr>
          <a:xfrm>
            <a:off x="731520" y="3611880"/>
            <a:ext cx="7772400" cy="457200"/>
          </a:xfrm>
          <a:prstGeom prst="rect">
            <a:avLst/>
          </a:prstGeom>
          <a:noFill/>
          <a:ln/>
        </p:spPr>
        <p:txBody>
          <a:bodyPr wrap="square" rtlCol="0" anchor="ctr"/>
          <a:lstStyle/>
          <a:p>
            <a:pPr marL="0" indent="0">
              <a:buNone/>
            </a:pPr>
            <a:r>
              <a:rPr lang="en-US" sz="1400" dirty="0">
                <a:solidFill>
                  <a:srgbClr val="5A6B75"/>
                </a:solidFill>
                <a:latin typeface="Calibri" pitchFamily="34" charset="0"/>
                <a:ea typeface="Calibri" pitchFamily="34" charset="-122"/>
                <a:cs typeface="Calibri" pitchFamily="34" charset="-120"/>
              </a:rPr>
              <a:t>Predicción y Determinantes de la Pobreza Multidimensional y Vulnerabilidad — CASEN 2024</a:t>
            </a:r>
            <a:endParaRPr lang="en-US" sz="1400" dirty="0"/>
          </a:p>
        </p:txBody>
      </p:sp>
      <p:sp>
        <p:nvSpPr>
          <p:cNvPr id="5" name="Text 3"/>
          <p:cNvSpPr txBox="1"/>
          <p:nvPr/>
        </p:nvSpPr>
        <p:spPr>
          <a:xfrm>
            <a:off x="731520" y="4114800"/>
            <a:ext cx="7772400" cy="365760"/>
          </a:xfrm>
          <a:prstGeom prst="rect">
            <a:avLst/>
          </a:prstGeom>
          <a:noFill/>
          <a:ln/>
        </p:spPr>
        <p:txBody>
          <a:bodyPr wrap="square" rtlCol="0" anchor="ctr"/>
          <a:lstStyle/>
          <a:p>
            <a:pPr marL="0" indent="0">
              <a:buNone/>
            </a:pPr>
            <a:r>
              <a:rPr lang="en-US" sz="1200" dirty="0">
                <a:solidFill>
                  <a:srgbClr val="065A82"/>
                </a:solidFill>
                <a:latin typeface="Calibri" pitchFamily="34" charset="0"/>
                <a:ea typeface="Calibri" pitchFamily="34" charset="-122"/>
                <a:cs typeface="Calibri" pitchFamily="34" charset="-120"/>
              </a:rPr>
              <a:t>Repositorio: github.com/santimsoler/APLICACIONFINAL_PROGRAMACION_UBA</a:t>
            </a:r>
            <a:endParaRPr lang="en-US" sz="1200" dirty="0"/>
          </a:p>
        </p:txBody>
      </p:sp>
      <p:sp>
        <p:nvSpPr>
          <p:cNvPr id="6" name="Text 4"/>
          <p:cNvSpPr txBox="1"/>
          <p:nvPr/>
        </p:nvSpPr>
        <p:spPr>
          <a:xfrm>
            <a:off x="548640" y="6492240"/>
            <a:ext cx="10058400" cy="274320"/>
          </a:xfrm>
          <a:prstGeom prst="rect">
            <a:avLst/>
          </a:prstGeom>
          <a:noFill/>
          <a:ln/>
        </p:spPr>
        <p:txBody>
          <a:bodyPr wrap="square" rtlCol="0" anchor="ctr"/>
          <a:lstStyle/>
          <a:p>
            <a:pPr marL="0" indent="0">
              <a:buNone/>
            </a:pPr>
            <a:r>
              <a:rPr lang="en-US" sz="850" dirty="0">
                <a:solidFill>
                  <a:srgbClr val="5A6B75"/>
                </a:solidFill>
                <a:latin typeface="Calibri" pitchFamily="34" charset="0"/>
                <a:ea typeface="Calibri" pitchFamily="34" charset="-122"/>
                <a:cs typeface="Calibri" pitchFamily="34" charset="-120"/>
              </a:rPr>
              <a:t>Aplicación Final · Clustering (K-means) sobre CASEN 2024 · github.com/santimsoler/APLICACIONFINAL_PROGRAMACION_UBA</a:t>
            </a:r>
            <a:endParaRPr lang="en-US" sz="850" dirty="0"/>
          </a:p>
        </p:txBody>
      </p:sp>
      <p:sp>
        <p:nvSpPr>
          <p:cNvPr id="7" name="Text 5"/>
          <p:cNvSpPr txBox="1"/>
          <p:nvPr/>
        </p:nvSpPr>
        <p:spPr>
          <a:xfrm>
            <a:off x="11521440" y="6492240"/>
            <a:ext cx="365760" cy="274320"/>
          </a:xfrm>
          <a:prstGeom prst="rect">
            <a:avLst/>
          </a:prstGeom>
          <a:noFill/>
          <a:ln/>
        </p:spPr>
        <p:txBody>
          <a:bodyPr wrap="square" rtlCol="0" anchor="ctr"/>
          <a:lstStyle/>
          <a:p>
            <a:pPr marL="0" indent="0" algn="r">
              <a:buNone/>
            </a:pPr>
            <a:r>
              <a:rPr lang="en-US" sz="900" dirty="0">
                <a:solidFill>
                  <a:srgbClr val="5A6B7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1390</Words>
  <Application>Microsoft Office PowerPoint</Application>
  <PresentationFormat>Panorámica</PresentationFormat>
  <Paragraphs>124</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MARTINEZ SOLER PABLO SANTIAGO</cp:lastModifiedBy>
  <cp:revision>2</cp:revision>
  <dcterms:created xsi:type="dcterms:W3CDTF">2026-09-10T02:19:54Z</dcterms:created>
  <dcterms:modified xsi:type="dcterms:W3CDTF">2026-09-10T02:27:51Z</dcterms:modified>
</cp:coreProperties>
</file>