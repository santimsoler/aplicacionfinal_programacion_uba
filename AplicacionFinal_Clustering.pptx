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43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430"/>
                </a:solidFill>
                <a:latin typeface="Arial"/>
              </a:rPr>
              <a:t>Silhouette score por k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 score</c:v>
                </c:pt>
              </c:strCache>
            </c:strRef>
          </c:tx>
          <c:spPr>
            <a:solidFill>
              <a:srgbClr val="065A82"/>
            </a:solidFill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k=2</c:v>
                  </c:pt>
                  <c:pt idx="1">
                    <c:v>k=3</c:v>
                  </c:pt>
                  <c:pt idx="2">
                    <c:v>k=4</c:v>
                  </c:pt>
                  <c:pt idx="3">
                    <c:v>k=5</c:v>
                  </c:pt>
                  <c:pt idx="4">
                    <c:v>k=6</c:v>
                  </c:pt>
                  <c:pt idx="5">
                    <c:v>k=7</c:v>
                  </c:pt>
                  <c:pt idx="6">
                    <c:v>k=8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0.32</c:v>
                </c:pt>
                <c:pt idx="1">
                  <c:v>0.294</c:v>
                </c:pt>
                <c:pt idx="2">
                  <c:v>0.305</c:v>
                </c:pt>
                <c:pt idx="3">
                  <c:v>0.297</c:v>
                </c:pt>
                <c:pt idx="4">
                  <c:v>0.306</c:v>
                </c:pt>
                <c:pt idx="5">
                  <c:v>0.302</c:v>
                </c:pt>
                <c:pt idx="6">
                  <c:v>0.27</c:v>
                </c:pt>
              </c:numCache>
            </c:numRef>
          </c:val>
          <c:smooth val="0"/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1B243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43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430"/>
                </a:solidFill>
                <a:latin typeface="Arial"/>
              </a:rPr>
              <a:t>Inercia por k (método del codo)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Inercia</c:v>
                </c:pt>
              </c:strCache>
            </c:strRef>
          </c:tx>
          <c:spPr>
            <a:solidFill>
              <a:srgbClr val="1C7293"/>
            </a:solidFill>
            <a:ln w="3175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k=2</c:v>
                  </c:pt>
                  <c:pt idx="1">
                    <c:v>k=3</c:v>
                  </c:pt>
                  <c:pt idx="2">
                    <c:v>k=4</c:v>
                  </c:pt>
                  <c:pt idx="3">
                    <c:v>k=5</c:v>
                  </c:pt>
                  <c:pt idx="4">
                    <c:v>k=6</c:v>
                  </c:pt>
                  <c:pt idx="5">
                    <c:v>k=7</c:v>
                  </c:pt>
                  <c:pt idx="6">
                    <c:v>k=8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156833.2</c:v>
                </c:pt>
                <c:pt idx="1">
                  <c:v>142441.5</c:v>
                </c:pt>
                <c:pt idx="2">
                  <c:v>129074.5</c:v>
                </c:pt>
                <c:pt idx="3">
                  <c:v>120542.1</c:v>
                </c:pt>
                <c:pt idx="4">
                  <c:v>112530.4</c:v>
                </c:pt>
                <c:pt idx="5">
                  <c:v>107047.7</c:v>
                </c:pt>
                <c:pt idx="6">
                  <c:v>100532.5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 hogares pobres</c:v>
                </c:pt>
              </c:strCache>
            </c:strRef>
          </c:tx>
          <c:spPr>
            <a:solidFill>
              <a:srgbClr val="6FD3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FD3C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E6E8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A36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Cluster 0
(menos severo)</c:v>
                  </c:pt>
                  <c:pt idx="1">
                    <c:v>Cluster 2
(intermedio)</c:v>
                  </c:pt>
                  <c:pt idx="2">
                    <c:v>Cluster 1
(más severo)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40.03</c:v>
                </c:pt>
                <c:pt idx="1">
                  <c:v>33.53</c:v>
                </c:pt>
                <c:pt idx="2">
                  <c:v>26.44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1295C"/>
        </a:solidFill>
        <a:ln>
          <a:noFill/>
        </a:ln>
        <a:effectLst/>
      </c:spPr>
    </c:plotArea>
    <c:plotVisOnly val="1"/>
    <c:dispBlanksAs val="span"/>
  </c:chart>
  <c:spPr>
    <a:solidFill>
      <a:srgbClr val="21295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Importancia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v12 (tamaño vivienda)</c:v>
                  </c:pt>
                  <c:pt idx="1">
                    <c:v>v5 (estado techo)</c:v>
                  </c:pt>
                  <c:pt idx="2">
                    <c:v>v3 (estado muros)</c:v>
                  </c:pt>
                  <c:pt idx="3">
                    <c:v>v7 (estado piso)</c:v>
                  </c:pt>
                  <c:pt idx="4">
                    <c:v>v13 (tenencia)</c:v>
                  </c:pt>
                  <c:pt idx="5">
                    <c:v>v4 (material piso)</c:v>
                  </c:pt>
                  <c:pt idx="6">
                    <c:v>v2 (material muros)</c:v>
                  </c:pt>
                  <c:pt idx="7">
                    <c:v>v6 (material techo)</c:v>
                  </c:pt>
                  <c:pt idx="8">
                    <c:v>s16 (problema de salud)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0.2226</c:v>
                </c:pt>
                <c:pt idx="1">
                  <c:v>0.1176</c:v>
                </c:pt>
                <c:pt idx="2">
                  <c:v>0.116</c:v>
                </c:pt>
                <c:pt idx="3">
                  <c:v>0.1156</c:v>
                </c:pt>
                <c:pt idx="4">
                  <c:v>0.0831</c:v>
                </c:pt>
                <c:pt idx="5">
                  <c:v>0.0592</c:v>
                </c:pt>
                <c:pt idx="6">
                  <c:v>0.0548</c:v>
                </c:pt>
                <c:pt idx="7">
                  <c:v>0.0438</c:v>
                </c:pt>
                <c:pt idx="8">
                  <c:v>0.0411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5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7C4C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Vivienda</c:v>
                  </c:pt>
                  <c:pt idx="1">
                    <c:v>Salud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0.615</c:v>
                </c:pt>
                <c:pt idx="1">
                  <c:v>0.534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3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.4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206240" cy="4206240"/>
          </a:xfrm>
          <a:prstGeom prst="ellipse">
            <a:avLst/>
          </a:prstGeom>
          <a:solidFill>
            <a:srgbClr val="1C7293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834640" cy="28346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PROGRAMACIÓN · UBA 2026 · APLICACIÓN FINAL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45920"/>
            <a:ext cx="10241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aplicado a la severidad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pobreza multidimensional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52044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a los hogares más severamente afectados dentro del grupo de hogares pobres, usando K-means sobre variables de redes de apoyo e inseguridad alimentaria.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instancia de exposiciones · Aplicación de una herramienta vista en clase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806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 · Andrea Chasi, Pablo Ortiz, Santiago Soler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6172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Encuesta CASEN 2024 (MDSF, Chile)  ·  Repositorio: github.com/santimsoler/APLICACIONFINAL_PROGRAMACION_UBA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dónde veníamos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371600"/>
          </a:xfrm>
          <a:prstGeom prst="roundRect">
            <a:avLst>
              <a:gd name="adj" fmla="val 4667"/>
            </a:avLst>
          </a:prstGeom>
          <a:solidFill>
            <a:srgbClr val="F2F6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5087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de investigación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8745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¿Cuáles son los principales predictores no monetarios —salud, educación, vivienda y entorno residencial— del riesgo de pobreza multidimensional en la Encuesta CASEN 2024 (Chile)?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29184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78.654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0233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hogares encuestados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310896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43400" y="329184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13,6%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40233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hogares en pobreza multidimensional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310896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38160" y="329184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10.421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40233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hogares pobres (base de este análisis)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F2F6F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148072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esta instancia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54406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Noelia planteó ir un paso más allá: no solo separar pobres de no pobres, sino encontrar a los hogares más severamente afectados dentro del grupo de pobres. Para eso aplicamos clustering (K-means).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Final · Clustering (K-means) sobre CASEN 2024 · github.com/santimsoler/APLICACIONFINAL_PROGRAMACION_UBA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HERRAMIENTA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 K-means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2F6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402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Elegir k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6032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define cuántos grupos (clusters) se buscan formar.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41732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2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3611880" y="16459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1188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2402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Asignar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56032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observación se asigna al centroide (promedio del grupo) más cercano.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41732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2F6F8"/>
          </a:solidFill>
          <a:ln/>
        </p:spPr>
      </p:sp>
      <p:sp>
        <p:nvSpPr>
          <p:cNvPr id="15" name="Shape 13"/>
          <p:cNvSpPr/>
          <p:nvPr/>
        </p:nvSpPr>
        <p:spPr>
          <a:xfrm>
            <a:off x="6446520" y="16459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4652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2402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Recalcular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56032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recalculan los centroides como el promedio de las observaciones asignadas.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52560" y="141732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2F6F8"/>
          </a:solidFill>
          <a:ln/>
        </p:spPr>
      </p:sp>
      <p:sp>
        <p:nvSpPr>
          <p:cNvPr id="20" name="Shape 18"/>
          <p:cNvSpPr/>
          <p:nvPr/>
        </p:nvSpPr>
        <p:spPr>
          <a:xfrm>
            <a:off x="9281160" y="16459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8116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22402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Repetir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256032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repiten los pasos 2 y 3 hasta que las asignaciones dejan de cambiar.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70332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EAF1F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384048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criterio: similitud dentro del grupo, diferencia entre grupos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41605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minimiza la distancia entre cada hogar y el centro de su grupo — busca que los hogares de un mismo cluster se parezcan entre sí, y que los clusters sean distintos entre ellos.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9834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Segunda etapa del método (Caruso, Sosa-Escudero y Svarc, 2011)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 formados los clusters, se busca el subconjunto mínimo de variables externas al clustering que permite reproducir esa misma clasificación — así se identifica qué dimensiones explican mejor la segmentación encontrada.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Final · Clustering (K-means) sobre CASEN 2024 · github.com/santimsoler/APLICACIONFINAL_PROGRAMACION_UBA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Y DESVENTAJAS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elegimos clustering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2F6F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539496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4846320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impone un umbral de severidad a priori — lo encuentra a partir de los propios datos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trabajar sobre variables que no forman parte del índice oficial de pobreza (redes, inseguridad alimentaria)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Encaja directamente con el pedido de Noelia: encontrar 'los más pobres dentro de los pobres'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número de clusters se puede elegir con criterios objetivos (inercia, silhouette)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2F6F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0" y="1463040"/>
            <a:ext cx="5394960" cy="5029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4630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Desventajas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148840"/>
            <a:ext cx="4846320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garantiza que los grupos encontrados tengan sentido económico — hay que interpretarlos después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 a la escala de las variables (requiere estandarizar) y a los valores iniciales de los centroides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número de clusters no siempre es evidente — el silhouette y el codo no siempre coinciden con claridad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método exploratorio, no permite hacer inferencia estadística (p-valores, intervalos de confianza) como un modelo de regresión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Final · Clustering (K-means) sobre CASEN 2024 · github.com/santimsoler/APLICACIONFINAL_PROGRAMACION_UBA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— PASO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Elegir el número de clusters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Filtramos los 10.421 hogares pobres y probamos k=2 a 8 sobre las variables de redes de apoyo e inseguridad alimentaria.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5486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172200" y="1691640"/>
          <a:ext cx="5486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89320"/>
            <a:ext cx="11064240" cy="438912"/>
          </a:xfrm>
          <a:prstGeom prst="roundRect">
            <a:avLst>
              <a:gd name="adj" fmla="val 12500"/>
            </a:avLst>
          </a:prstGeom>
          <a:solidFill>
            <a:srgbClr val="F2F6F8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822960" y="5989320"/>
            <a:ext cx="10515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inercia baja de forma pareja, sin un quiebre marcado. El silhouette es más alto en k=2, pero k=3 ofrece más matiz manteniendo una separación razonable — optamos por k=3.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Final · Clustering (K-means) sobre CASEN 2024 · github.com/santimsoler/APLICACIONFINAL_PROGRAMACION_UBA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grupos de severidad dentro de los pobres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6692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492240" y="1371600"/>
            <a:ext cx="5120640" cy="4754880"/>
          </a:xfrm>
          <a:prstGeom prst="roundRect">
            <a:avLst>
              <a:gd name="adj" fmla="val 1538"/>
            </a:avLst>
          </a:prstGeom>
          <a:solidFill>
            <a:srgbClr val="1B2B57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76656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1 — el más severo (26,4%)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766560" y="2057400"/>
            <a:ext cx="4572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Menores niveles de red de apoyo (menos hogares que cuenten con ayuda ante una emergencia)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inseguridad alimentaria: más hogares que reportaron preocupación por no tener alimentos o pasar hambre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tenencia de vehículos (activo del hogar)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766560" y="4160520"/>
            <a:ext cx="4114800" cy="0"/>
          </a:xfrm>
          <a:prstGeom prst="line">
            <a:avLst/>
          </a:prstGeom>
          <a:noFill/>
          <a:ln w="12700">
            <a:solidFill>
              <a:srgbClr val="3E6E8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766560" y="434340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9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subgrupo dentro de los pobres, no una nueva categoría de pobreza — su identificación permite priorizar a quién dirigir primero una política de asistencia.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Final · Clustering (K-means) sobre CASEN 2024 · github.com/santimsoler/APLICACIONFINAL_PROGRAMACION_UBA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— PASO 2 (SELECCIÓN DE VARIABLES)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explica esa segmentación desde afuera?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Siguiendo la segunda etapa del método: buscamos qué variables NO usadas para formar los clusters (salud, educación, vivienda) permiten distinguir al cluster más severo.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74980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321040" y="1828800"/>
            <a:ext cx="3291840" cy="4572000"/>
          </a:xfrm>
          <a:prstGeom prst="roundRect">
            <a:avLst>
              <a:gd name="adj" fmla="val 2222"/>
            </a:avLst>
          </a:prstGeom>
          <a:solidFill>
            <a:srgbClr val="F2F6F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595360" y="2057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= 0,620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26974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de las variables de salud/educación/vivienda para anticipar la severidad definida por redes/alimentación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595360" y="4069080"/>
            <a:ext cx="2560320" cy="0"/>
          </a:xfrm>
          <a:prstGeom prst="line">
            <a:avLst/>
          </a:prstGeom>
          <a:noFill/>
          <a:ln w="12700">
            <a:solidFill>
              <a:srgbClr val="C7D6D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595360" y="42519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 domina el ranking. Salud aparece recién en el noveno lugar, con peso bajo.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Final · Clustering (K-means) sobre CASEN 2024 · github.com/santimsoler/APLICACIONFINAL_PROGRAMACION_UBA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Vivienda vs. salud: comparación directa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Corrimos el mismo ejercicio por separado para cada dimensión, con validación cruzada (5 particiones).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371600" y="173736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223760" y="1737360"/>
            <a:ext cx="4389120" cy="4206240"/>
          </a:xfrm>
          <a:prstGeom prst="roundRect">
            <a:avLst>
              <a:gd name="adj" fmla="val 1739"/>
            </a:avLst>
          </a:prstGeom>
          <a:solidFill>
            <a:srgbClr val="F2F6F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498080" y="1920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2377440"/>
            <a:ext cx="39319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Vivienda: AUC 0,615 (±0,011) — poder predictivo moderado, claramente por encima del azar (0,5)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Salud: AUC 0,534 (±0,011) — apenas por encima del azar, casi sin capacidad de distinguir severidad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desviación baja en ambos casos indica que el resultado es estable entre particiones, no producto del azar de una sola corrida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Final · Clustering (K-means) sobre CASEN 2024 · github.com/santimsoler/APLICACIONFINAL_PROGRAMACION_UBA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Interpretación económica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508760"/>
          </a:xfrm>
          <a:prstGeom prst="roundRect">
            <a:avLst>
              <a:gd name="adj" fmla="val 4242"/>
            </a:avLst>
          </a:prstGeom>
          <a:solidFill>
            <a:srgbClr val="F2F6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490472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Vivienda como activo estructural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82880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materialidad y el tamaño de la vivienda reflejan privación acumulada en el tiempo — son más difíciles de modificar en el corto plazo que otras dimensiones, lo que explica por qué distinguen bien entre niveles de severidad.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11064240" cy="1508760"/>
          </a:xfrm>
          <a:prstGeom prst="roundRect">
            <a:avLst>
              <a:gd name="adj" fmla="val 4242"/>
            </a:avLst>
          </a:prstGeom>
          <a:solidFill>
            <a:srgbClr val="F2F6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3136392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Salud con cobertura relativamente uniforme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47472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Chile, el sistema de salud (FONASA) tiene una cobertura amplia entre los hogares de bajos ingresos, lo que reduce la variabilidad de esta dimensión dentro del grupo de pobres — de ahí su bajo poder para distinguir severidad.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4663440"/>
            <a:ext cx="11064240" cy="1508760"/>
          </a:xfrm>
          <a:prstGeom prst="roundRect">
            <a:avLst>
              <a:gd name="adj" fmla="val 4242"/>
            </a:avLst>
          </a:prstGeom>
          <a:solidFill>
            <a:srgbClr val="F2F6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782312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 y alimentación como el núcleo de la severidad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512064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variables no forman parte del índice oficial de pobreza multidimensional, pero fueron las que definieron con más claridad al grupo más comprometido — sugiere que el aislamiento social y la inseguridad alimentaria capturan una dimensión de vulnerabilidad no cubierta por la medición oficial.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Final · Clustering (K-means) sobre CASEN 2024 · github.com/santimsoler/APLICACIONFINAL_PROGRAMACION_UBA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Reflexión final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 los datos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303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pobreza multidimensional no es un bloque homogéneo — hay niveles de severidad distintos dentro del grupo de pobres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que no forman parte del índice oficial (redes de apoyo, inseguridad alimentaria) resultaron más informativas que dimensiones que sí lo integran (salud)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cifras contra fuentes oficiales (17,7% a nivel persona) fue clave para detectar errores de unidad de análisis antes de sacar conclusiones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417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 la herramienta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828800"/>
            <a:ext cx="5303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k con criterios objetivos (silhouette, codo) evita decisiones arbitrarias, aunque no siempre da una respuesta única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clustering es exploratorio: encuentra grupos, pero interpretar su sentido económico requiere trabajo adicional (como la selección de variables)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Cuidar la circularidad —no usar las mismas variables para formar y explicar un grupo— fue el aprendizaje metodológico más importante del trabajo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484632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1B2B5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484632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síntesis: combinar clustering con selección de variables permitió pasar de una pregunta general —qué predice la pobreza— a una más precisa y accionable: qué distingue a los hogares en la situación más crítica dentro de los que ya son pobres.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Final · Clustering (K-means) sobre CASEN 2024 · github.com/santimsoler/APLICACIONFINAL_PROGRAMACION_UBA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754880"/>
            <a:ext cx="3657600" cy="3657600"/>
          </a:xfrm>
          <a:prstGeom prst="ellipse">
            <a:avLst/>
          </a:prstGeom>
          <a:solidFill>
            <a:srgbClr val="F2F6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5603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11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y Determinantes de la Pobreza Multidimensional y Vulnerabilidad — CASEN 2024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Repositorio: github.com/santimsoler/APLICACIONFINAL_PROGRAMACION_UBA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Final · Clustering (K-means) sobre CASEN 2024 · github.com/santimsoler/APLICACIONFINAL_PROGRAMACION_UBA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2026-09-10T01:46:51Z</dcterms:created>
  <dcterms:modified xsi:type="dcterms:W3CDTF">2026-09-10T01:46:51Z</dcterms:modified>
</cp:coreProperties>
</file>